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98" r:id="rId3"/>
    <p:sldId id="299" r:id="rId4"/>
    <p:sldId id="301" r:id="rId5"/>
    <p:sldId id="293" r:id="rId6"/>
    <p:sldId id="303" r:id="rId7"/>
    <p:sldId id="304" r:id="rId8"/>
    <p:sldId id="305" r:id="rId9"/>
    <p:sldId id="306" r:id="rId10"/>
    <p:sldId id="309" r:id="rId11"/>
    <p:sldId id="308" r:id="rId12"/>
    <p:sldId id="274" r:id="rId13"/>
    <p:sldId id="276" r:id="rId14"/>
    <p:sldId id="275" r:id="rId15"/>
  </p:sldIdLst>
  <p:sldSz cx="9144000" cy="5143500" type="screen16x9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-52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F00"/>
    <a:srgbClr val="FF0000"/>
    <a:srgbClr val="AF2323"/>
    <a:srgbClr val="EAEBE9"/>
    <a:srgbClr val="38373D"/>
    <a:srgbClr val="4E4D55"/>
    <a:srgbClr val="676E78"/>
    <a:srgbClr val="FF7979"/>
    <a:srgbClr val="7F7B7B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5FAE7C-6979-466C-B229-4D571517AF85}">
  <a:tblStyle styleId="{A75FAE7C-6979-466C-B229-4D571517AF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109" d="100"/>
          <a:sy n="109" d="100"/>
        </p:scale>
        <p:origin x="706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78972371b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878972371b_2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878972371b_2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89a4c8e4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89a4c8e4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2E8AAB95-CA4C-34C9-C8D7-9C27DFA3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78972371b_2_62:notes">
            <a:extLst>
              <a:ext uri="{FF2B5EF4-FFF2-40B4-BE49-F238E27FC236}">
                <a16:creationId xmlns:a16="http://schemas.microsoft.com/office/drawing/2014/main" id="{6819E920-E887-D016-64B7-1964BCEC0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878972371b_2_62:notes">
            <a:extLst>
              <a:ext uri="{FF2B5EF4-FFF2-40B4-BE49-F238E27FC236}">
                <a16:creationId xmlns:a16="http://schemas.microsoft.com/office/drawing/2014/main" id="{A27257FF-D0B1-4658-4626-54F0C99B6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878972371b_2_62:notes">
            <a:extLst>
              <a:ext uri="{FF2B5EF4-FFF2-40B4-BE49-F238E27FC236}">
                <a16:creationId xmlns:a16="http://schemas.microsoft.com/office/drawing/2014/main" id="{8F2D7693-6ECD-B681-A08D-D263FF7A29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411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78972371b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g3878972371b_2_1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878972371b_2_1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8bc4ae287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g388bc4ae287_1_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88bc4ae287_1_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78972371b_2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878972371b_2_2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878972371b_2_2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13" Type="http://schemas.openxmlformats.org/officeDocument/2006/relationships/image" Target="../media/image38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" Type="http://schemas.openxmlformats.org/officeDocument/2006/relationships/image" Target="../media/image1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microsoft.com/office/2007/relationships/hdphoto" Target="../media/hdphoto1.wdp"/><Relationship Id="rId5" Type="http://schemas.openxmlformats.org/officeDocument/2006/relationships/image" Target="../media/image31.jpeg"/><Relationship Id="rId15" Type="http://schemas.openxmlformats.org/officeDocument/2006/relationships/image" Target="../media/image40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microsoft.com/office/2007/relationships/hdphoto" Target="../media/hdphoto1.wdp"/><Relationship Id="rId9" Type="http://schemas.openxmlformats.org/officeDocument/2006/relationships/image" Target="../media/image4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36.png"/><Relationship Id="rId4" Type="http://schemas.openxmlformats.org/officeDocument/2006/relationships/image" Target="../media/image5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jpg"/><Relationship Id="rId5" Type="http://schemas.openxmlformats.org/officeDocument/2006/relationships/image" Target="../media/image64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A4CC1A27-95C5-B940-17F4-9D6DB512BCD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7;p16">
            <a:extLst>
              <a:ext uri="{FF2B5EF4-FFF2-40B4-BE49-F238E27FC236}">
                <a16:creationId xmlns:a16="http://schemas.microsoft.com/office/drawing/2014/main" id="{8F4B4B1E-40A1-5F8B-9D39-CB20ED4C6414}"/>
              </a:ext>
            </a:extLst>
          </p:cNvPr>
          <p:cNvSpPr/>
          <p:nvPr/>
        </p:nvSpPr>
        <p:spPr>
          <a:xfrm>
            <a:off x="148133" y="2830101"/>
            <a:ext cx="5833630" cy="544467"/>
          </a:xfrm>
          <a:prstGeom prst="flowChartAlternateProcess">
            <a:avLst/>
          </a:prstGeom>
          <a:solidFill>
            <a:srgbClr val="C0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endParaRPr sz="2930" b="1" dirty="0">
              <a:solidFill>
                <a:srgbClr val="FFFFFF"/>
              </a:solidFill>
              <a:latin typeface="+mj-lt"/>
              <a:ea typeface="Inter"/>
              <a:sym typeface="Inter"/>
            </a:endParaRPr>
          </a:p>
        </p:txBody>
      </p:sp>
      <p:pic>
        <p:nvPicPr>
          <p:cNvPr id="57" name="Google Shape;57;p15" descr="preencoded.png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056937" y="70845"/>
            <a:ext cx="1793729" cy="75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 descr="preencoded.png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3383613" y="99039"/>
            <a:ext cx="2506648" cy="718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7375" y="967433"/>
            <a:ext cx="3476625" cy="42148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148132" y="3757752"/>
            <a:ext cx="5833630" cy="41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725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600"/>
              <a:buFont typeface="Inter"/>
              <a:buNone/>
            </a:pPr>
            <a:r>
              <a:rPr lang="ru" sz="1800" b="1" i="0" u="none" strike="noStrike" cap="none" dirty="0">
                <a:solidFill>
                  <a:srgbClr val="BCC0C5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КОМАНДА “ФИНТЕХ В КОКОШНИКЕ”</a:t>
            </a:r>
            <a:endParaRPr sz="18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48132" y="1350618"/>
            <a:ext cx="6542229" cy="1974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0"/>
              <a:buFont typeface="Inter"/>
              <a:buNone/>
            </a:pPr>
            <a:r>
              <a:rPr lang="ru" sz="293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От традиционных финансов</a:t>
            </a:r>
            <a:endParaRPr sz="293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0"/>
              <a:buFont typeface="Inter"/>
              <a:buNone/>
            </a:pPr>
            <a:r>
              <a:rPr lang="ru" sz="293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 цифровым: запуск масштабируемых продуктов ЦФА</a:t>
            </a:r>
            <a:r>
              <a:rPr lang="ru" sz="293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в отрасли гейминга и видеигр</a:t>
            </a:r>
            <a:endParaRPr sz="293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7" name="Рисунок 6" descr="Изображение выглядит как Графика, графический дизайн, Красочность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3EF433-1E1F-B3CB-D9F7-9F34EA87C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407" y="344448"/>
            <a:ext cx="2914334" cy="472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9CAE7A3C-95C4-C631-8A33-341286D0457F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7;p17">
            <a:extLst>
              <a:ext uri="{FF2B5EF4-FFF2-40B4-BE49-F238E27FC236}">
                <a16:creationId xmlns:a16="http://schemas.microsoft.com/office/drawing/2014/main" id="{58180C81-0374-FA4D-FCF9-BABE5B2B893A}"/>
              </a:ext>
            </a:extLst>
          </p:cNvPr>
          <p:cNvSpPr/>
          <p:nvPr/>
        </p:nvSpPr>
        <p:spPr>
          <a:xfrm>
            <a:off x="5525314" y="3137774"/>
            <a:ext cx="302874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Игрок 25-40 лет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Имеет стабильный доход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" name="Трапеция 9">
            <a:extLst>
              <a:ext uri="{FF2B5EF4-FFF2-40B4-BE49-F238E27FC236}">
                <a16:creationId xmlns:a16="http://schemas.microsoft.com/office/drawing/2014/main" id="{81B3229C-ECE4-BC12-53A2-AE592D59A03D}"/>
              </a:ext>
            </a:extLst>
          </p:cNvPr>
          <p:cNvSpPr/>
          <p:nvPr/>
        </p:nvSpPr>
        <p:spPr>
          <a:xfrm rot="10800000">
            <a:off x="589945" y="3179977"/>
            <a:ext cx="2709342" cy="790055"/>
          </a:xfrm>
          <a:prstGeom prst="trapezoid">
            <a:avLst>
              <a:gd name="adj" fmla="val 64005"/>
            </a:avLst>
          </a:prstGeom>
          <a:solidFill>
            <a:srgbClr val="861A1A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/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F184B9E-6BBD-4136-A2D4-268BE238D326}"/>
              </a:ext>
            </a:extLst>
          </p:cNvPr>
          <p:cNvSpPr/>
          <p:nvPr/>
        </p:nvSpPr>
        <p:spPr>
          <a:xfrm rot="10800000">
            <a:off x="1158528" y="4025587"/>
            <a:ext cx="1572553" cy="1066667"/>
          </a:xfrm>
          <a:prstGeom prst="triangle">
            <a:avLst>
              <a:gd name="adj" fmla="val 50000"/>
            </a:avLst>
          </a:prstGeom>
          <a:solidFill>
            <a:srgbClr val="AF2323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/>
          </a:p>
        </p:txBody>
      </p:sp>
      <p:sp>
        <p:nvSpPr>
          <p:cNvPr id="12" name="Google Shape;97;p17">
            <a:extLst>
              <a:ext uri="{FF2B5EF4-FFF2-40B4-BE49-F238E27FC236}">
                <a16:creationId xmlns:a16="http://schemas.microsoft.com/office/drawing/2014/main" id="{E2171B00-39B4-859D-CEA8-7EF39A7DBEF8}"/>
              </a:ext>
            </a:extLst>
          </p:cNvPr>
          <p:cNvSpPr/>
          <p:nvPr/>
        </p:nvSpPr>
        <p:spPr>
          <a:xfrm>
            <a:off x="842214" y="3341042"/>
            <a:ext cx="2230411" cy="41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200" dirty="0">
                <a:solidFill>
                  <a:srgbClr val="FFFFFF"/>
                </a:solidFill>
                <a:latin typeface="+mj-lt"/>
                <a:ea typeface="Inter"/>
                <a:cs typeface="Calibri"/>
                <a:sym typeface="Inter"/>
              </a:rPr>
              <a:t>60% населения РФ</a:t>
            </a:r>
          </a:p>
          <a:p>
            <a:pPr marL="0" marR="0" lvl="0" indent="0" algn="ctr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200" dirty="0">
                <a:solidFill>
                  <a:srgbClr val="FFFFFF"/>
                </a:solidFill>
                <a:latin typeface="+mj-lt"/>
                <a:ea typeface="Inter"/>
                <a:cs typeface="Calibri"/>
                <a:sym typeface="Inter"/>
              </a:rPr>
              <a:t>88 млн чел</a:t>
            </a:r>
            <a:endParaRPr sz="12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97;p17">
            <a:extLst>
              <a:ext uri="{FF2B5EF4-FFF2-40B4-BE49-F238E27FC236}">
                <a16:creationId xmlns:a16="http://schemas.microsoft.com/office/drawing/2014/main" id="{07CDE995-E846-7E56-0768-169BB2524CD5}"/>
              </a:ext>
            </a:extLst>
          </p:cNvPr>
          <p:cNvSpPr/>
          <p:nvPr/>
        </p:nvSpPr>
        <p:spPr>
          <a:xfrm>
            <a:off x="1127234" y="3834202"/>
            <a:ext cx="1660369" cy="92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200" dirty="0">
                <a:solidFill>
                  <a:srgbClr val="FFFFFF"/>
                </a:solidFill>
                <a:latin typeface="+mn-lt"/>
                <a:ea typeface="Inter"/>
                <a:cs typeface="Calibri"/>
                <a:sym typeface="Inter"/>
              </a:rPr>
              <a:t>25% населения</a:t>
            </a:r>
          </a:p>
          <a:p>
            <a:pPr marL="0" marR="0" lvl="0" indent="0" algn="ctr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200" dirty="0">
                <a:solidFill>
                  <a:srgbClr val="FFFFFF"/>
                </a:solidFill>
                <a:latin typeface="+mn-lt"/>
                <a:ea typeface="Inter"/>
                <a:cs typeface="Calibri"/>
                <a:sym typeface="Inter"/>
              </a:rPr>
              <a:t>17 млн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28;p19">
            <a:extLst>
              <a:ext uri="{FF2B5EF4-FFF2-40B4-BE49-F238E27FC236}">
                <a16:creationId xmlns:a16="http://schemas.microsoft.com/office/drawing/2014/main" id="{03A79806-8F3A-334D-0E9E-B66D331FB05E}"/>
              </a:ext>
            </a:extLst>
          </p:cNvPr>
          <p:cNvSpPr/>
          <p:nvPr/>
        </p:nvSpPr>
        <p:spPr>
          <a:xfrm>
            <a:off x="965600" y="2757424"/>
            <a:ext cx="2053975" cy="50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ru" b="1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Объем аудитории</a:t>
            </a:r>
            <a:endParaRPr sz="1600" b="1" dirty="0">
              <a:solidFill>
                <a:srgbClr val="FFFFFF"/>
              </a:solidFill>
              <a:latin typeface="+mj-lt"/>
              <a:ea typeface="Inter"/>
              <a:cs typeface="Inter"/>
              <a:sym typeface="Inter"/>
            </a:endParaRPr>
          </a:p>
        </p:txBody>
      </p:sp>
      <p:sp>
        <p:nvSpPr>
          <p:cNvPr id="17" name="Google Shape;98;p17">
            <a:extLst>
              <a:ext uri="{FF2B5EF4-FFF2-40B4-BE49-F238E27FC236}">
                <a16:creationId xmlns:a16="http://schemas.microsoft.com/office/drawing/2014/main" id="{686D3C4D-4DD9-B3CD-08AA-FB8A1556FF7B}"/>
              </a:ext>
            </a:extLst>
          </p:cNvPr>
          <p:cNvSpPr/>
          <p:nvPr/>
        </p:nvSpPr>
        <p:spPr>
          <a:xfrm>
            <a:off x="5556244" y="3778377"/>
            <a:ext cx="3137077" cy="79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06615"/>
              </a:lnSpc>
              <a:buClr>
                <a:srgbClr val="FFFFFF"/>
              </a:buClr>
              <a:buSzPts val="1300"/>
            </a:pPr>
            <a:r>
              <a:rPr lang="ru" b="1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204 млрд руб. </a:t>
            </a:r>
            <a:r>
              <a:rPr lang="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- </a:t>
            </a:r>
            <a:r>
              <a:rPr lang="ru-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расходы в играх за 2024 (~12 000 </a:t>
            </a:r>
            <a:r>
              <a:rPr lang="ru-RU" dirty="0" err="1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руб</a:t>
            </a:r>
            <a:r>
              <a:rPr lang="ru-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/чел)</a:t>
            </a:r>
            <a:endParaRPr lang="ru-RU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12;p17">
            <a:extLst>
              <a:ext uri="{FF2B5EF4-FFF2-40B4-BE49-F238E27FC236}">
                <a16:creationId xmlns:a16="http://schemas.microsoft.com/office/drawing/2014/main" id="{37FA10E6-5080-ED98-E374-B7C0FB93FA82}"/>
              </a:ext>
            </a:extLst>
          </p:cNvPr>
          <p:cNvSpPr txBox="1"/>
          <p:nvPr/>
        </p:nvSpPr>
        <p:spPr>
          <a:xfrm>
            <a:off x="4476620" y="4881771"/>
            <a:ext cx="44427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Источник: TAdviser – Компьютерные и видеоигры (российский рынок)</a:t>
            </a:r>
            <a:endParaRPr dirty="0"/>
          </a:p>
        </p:txBody>
      </p:sp>
      <p:cxnSp>
        <p:nvCxnSpPr>
          <p:cNvPr id="22" name="Google Shape;113;p17">
            <a:extLst>
              <a:ext uri="{FF2B5EF4-FFF2-40B4-BE49-F238E27FC236}">
                <a16:creationId xmlns:a16="http://schemas.microsoft.com/office/drawing/2014/main" id="{0E1CA801-2BE5-21AD-326C-B99F71DA5984}"/>
              </a:ext>
            </a:extLst>
          </p:cNvPr>
          <p:cNvCxnSpPr>
            <a:cxnSpLocks/>
          </p:cNvCxnSpPr>
          <p:nvPr/>
        </p:nvCxnSpPr>
        <p:spPr>
          <a:xfrm>
            <a:off x="4530081" y="4909484"/>
            <a:ext cx="4229100" cy="0"/>
          </a:xfrm>
          <a:prstGeom prst="straightConnector1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97;p17">
            <a:extLst>
              <a:ext uri="{FF2B5EF4-FFF2-40B4-BE49-F238E27FC236}">
                <a16:creationId xmlns:a16="http://schemas.microsoft.com/office/drawing/2014/main" id="{45D12201-8EE3-1C42-17EF-79C698D0E4CD}"/>
              </a:ext>
            </a:extLst>
          </p:cNvPr>
          <p:cNvSpPr/>
          <p:nvPr/>
        </p:nvSpPr>
        <p:spPr>
          <a:xfrm>
            <a:off x="2530019" y="4327852"/>
            <a:ext cx="1751768" cy="34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-RU" sz="1200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Геймеры (играют </a:t>
            </a:r>
            <a:r>
              <a:rPr lang="en-US" sz="1200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&gt;</a:t>
            </a:r>
            <a:r>
              <a:rPr lang="ru-RU" sz="1200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5 часов в неделю)</a:t>
            </a:r>
            <a:endParaRPr sz="12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97;p17">
            <a:extLst>
              <a:ext uri="{FF2B5EF4-FFF2-40B4-BE49-F238E27FC236}">
                <a16:creationId xmlns:a16="http://schemas.microsoft.com/office/drawing/2014/main" id="{ED0FF835-E501-EA8B-E217-63A3C46DE9B8}"/>
              </a:ext>
            </a:extLst>
          </p:cNvPr>
          <p:cNvSpPr/>
          <p:nvPr/>
        </p:nvSpPr>
        <p:spPr>
          <a:xfrm>
            <a:off x="3172934" y="3355483"/>
            <a:ext cx="1303686" cy="34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9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-RU" dirty="0">
                <a:solidFill>
                  <a:srgbClr val="FFFFFF"/>
                </a:solidFill>
                <a:latin typeface="+mn-lt"/>
                <a:ea typeface="Inter"/>
                <a:cs typeface="Inter"/>
                <a:sym typeface="Inter"/>
              </a:rPr>
              <a:t>Любители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" name="AutoShape 2" descr="Gamedev | Рейтинги | Smart Ranking">
            <a:extLst>
              <a:ext uri="{FF2B5EF4-FFF2-40B4-BE49-F238E27FC236}">
                <a16:creationId xmlns:a16="http://schemas.microsoft.com/office/drawing/2014/main" id="{2BEB0C4C-5203-A602-B1A5-E839274FFE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" name="Google Shape;422;p33">
            <a:extLst>
              <a:ext uri="{FF2B5EF4-FFF2-40B4-BE49-F238E27FC236}">
                <a16:creationId xmlns:a16="http://schemas.microsoft.com/office/drawing/2014/main" id="{4DAEFDA4-0848-B6BA-D5EF-143FBD5919EE}"/>
              </a:ext>
            </a:extLst>
          </p:cNvPr>
          <p:cNvSpPr/>
          <p:nvPr/>
        </p:nvSpPr>
        <p:spPr>
          <a:xfrm>
            <a:off x="8080407" y="4955957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2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" name="Google Shape;128;p19">
            <a:extLst>
              <a:ext uri="{FF2B5EF4-FFF2-40B4-BE49-F238E27FC236}">
                <a16:creationId xmlns:a16="http://schemas.microsoft.com/office/drawing/2014/main" id="{E938FB4E-8D1A-399A-752C-4E1B7EB2C452}"/>
              </a:ext>
            </a:extLst>
          </p:cNvPr>
          <p:cNvSpPr/>
          <p:nvPr/>
        </p:nvSpPr>
        <p:spPr>
          <a:xfrm>
            <a:off x="4615623" y="45801"/>
            <a:ext cx="4058016" cy="51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ru-RU" b="1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Топ российских разработчиков видеоигр и их выручка за 2024 год (млрд руб.)</a:t>
            </a:r>
          </a:p>
        </p:txBody>
      </p:sp>
      <p:pic>
        <p:nvPicPr>
          <p:cNvPr id="16" name="Рисунок 1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AA5623-F7CA-1B96-7A5D-5175D3D62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92" y="505814"/>
            <a:ext cx="4572044" cy="2355296"/>
          </a:xfrm>
          <a:prstGeom prst="rect">
            <a:avLst/>
          </a:prstGeom>
        </p:spPr>
      </p:pic>
      <p:pic>
        <p:nvPicPr>
          <p:cNvPr id="30" name="Рисунок 29" descr="Мужской профиль со сплошной заливкой">
            <a:extLst>
              <a:ext uri="{FF2B5EF4-FFF2-40B4-BE49-F238E27FC236}">
                <a16:creationId xmlns:a16="http://schemas.microsoft.com/office/drawing/2014/main" id="{3388DE8A-A9BC-1CCF-0BCC-111BB05AE2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7002" y="3008997"/>
            <a:ext cx="692973" cy="692973"/>
          </a:xfrm>
          <a:prstGeom prst="rect">
            <a:avLst/>
          </a:prstGeom>
        </p:spPr>
      </p:pic>
      <p:pic>
        <p:nvPicPr>
          <p:cNvPr id="31" name="Рисунок 30" descr="Монеты со сплошной заливкой">
            <a:extLst>
              <a:ext uri="{FF2B5EF4-FFF2-40B4-BE49-F238E27FC236}">
                <a16:creationId xmlns:a16="http://schemas.microsoft.com/office/drawing/2014/main" id="{D464637C-5E31-F666-55A0-22D4C331ED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7996" y="3910159"/>
            <a:ext cx="589235" cy="589235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F78E5E-9AD3-04E2-E290-940D5B631E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84" y="504322"/>
            <a:ext cx="4641980" cy="2360567"/>
          </a:xfrm>
          <a:prstGeom prst="rect">
            <a:avLst/>
          </a:prstGeom>
        </p:spPr>
      </p:pic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ED188F3-7824-F09D-91AD-52656723DC43}"/>
              </a:ext>
            </a:extLst>
          </p:cNvPr>
          <p:cNvSpPr/>
          <p:nvPr/>
        </p:nvSpPr>
        <p:spPr>
          <a:xfrm>
            <a:off x="4759097" y="2861110"/>
            <a:ext cx="4074617" cy="1899957"/>
          </a:xfrm>
          <a:prstGeom prst="roundRect">
            <a:avLst/>
          </a:prstGeom>
          <a:noFill/>
          <a:ln>
            <a:solidFill>
              <a:srgbClr val="AF2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F586D-CD68-FF15-19DA-A6125DDCF558}"/>
              </a:ext>
            </a:extLst>
          </p:cNvPr>
          <p:cNvSpPr txBox="1"/>
          <p:nvPr/>
        </p:nvSpPr>
        <p:spPr>
          <a:xfrm>
            <a:off x="668667" y="196545"/>
            <a:ext cx="3403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Объем рынка видеоигр (млрд руб.)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1D5A66A6-D8BD-C5A9-1824-82FC65B4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8BC4CDA0-7AAE-8CA2-3247-900298ECB30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545756">
              <a:alpha val="48100"/>
            </a:srgbClr>
          </a:solidFill>
          <a:ln w="19050" cap="flat" cmpd="sng">
            <a:solidFill>
              <a:srgbClr val="545756">
                <a:alpha val="8078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</p:pic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B67DAA00-69F8-35EC-BC74-2C539C604213}"/>
              </a:ext>
            </a:extLst>
          </p:cNvPr>
          <p:cNvSpPr/>
          <p:nvPr/>
        </p:nvSpPr>
        <p:spPr>
          <a:xfrm>
            <a:off x="177651" y="4268220"/>
            <a:ext cx="4186800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1FCB11C7-1B84-01E8-69CD-E7AC6383BD7A}"/>
              </a:ext>
            </a:extLst>
          </p:cNvPr>
          <p:cNvSpPr/>
          <p:nvPr/>
        </p:nvSpPr>
        <p:spPr>
          <a:xfrm>
            <a:off x="4759818" y="1032996"/>
            <a:ext cx="4162204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80" name="Прямоугольник: скругленные углы 79">
            <a:extLst>
              <a:ext uri="{FF2B5EF4-FFF2-40B4-BE49-F238E27FC236}">
                <a16:creationId xmlns:a16="http://schemas.microsoft.com/office/drawing/2014/main" id="{4BD12BA5-BF83-8024-511F-3D657B8E7472}"/>
              </a:ext>
            </a:extLst>
          </p:cNvPr>
          <p:cNvSpPr/>
          <p:nvPr/>
        </p:nvSpPr>
        <p:spPr>
          <a:xfrm>
            <a:off x="4759818" y="1854578"/>
            <a:ext cx="4162204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 dirty="0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B7C4FAE4-6A73-E481-54F5-DE3C6E04EA0C}"/>
              </a:ext>
            </a:extLst>
          </p:cNvPr>
          <p:cNvSpPr/>
          <p:nvPr/>
        </p:nvSpPr>
        <p:spPr>
          <a:xfrm>
            <a:off x="4759817" y="2642825"/>
            <a:ext cx="4184631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93E4DAD1-481E-B047-BBCC-6C337310E317}"/>
              </a:ext>
            </a:extLst>
          </p:cNvPr>
          <p:cNvSpPr/>
          <p:nvPr/>
        </p:nvSpPr>
        <p:spPr>
          <a:xfrm>
            <a:off x="165994" y="3457333"/>
            <a:ext cx="4188414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 dirty="0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D6238760-EC5F-DFEC-7E0F-A6EF59FF48C6}"/>
              </a:ext>
            </a:extLst>
          </p:cNvPr>
          <p:cNvSpPr/>
          <p:nvPr/>
        </p:nvSpPr>
        <p:spPr>
          <a:xfrm>
            <a:off x="208945" y="2647190"/>
            <a:ext cx="4155933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6666247A-91B1-8F4C-0C4F-ACAA8ED46981}"/>
              </a:ext>
            </a:extLst>
          </p:cNvPr>
          <p:cNvSpPr/>
          <p:nvPr/>
        </p:nvSpPr>
        <p:spPr>
          <a:xfrm>
            <a:off x="208946" y="1842564"/>
            <a:ext cx="4155932" cy="720000"/>
          </a:xfrm>
          <a:prstGeom prst="roundRect">
            <a:avLst/>
          </a:prstGeom>
          <a:solidFill>
            <a:srgbClr val="545756">
              <a:alpha val="48100"/>
            </a:srgbClr>
          </a:solidFill>
          <a:ln w="12700" cap="flat" cmpd="sng">
            <a:solidFill>
              <a:schemeClr val="bg1">
                <a:lumMod val="75000"/>
                <a:alpha val="8078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solidFill>
                <a:srgbClr val="000000"/>
              </a:solidFill>
              <a:latin typeface="Verdana"/>
              <a:ea typeface="Verdana"/>
              <a:cs typeface="Arial"/>
            </a:endParaRPr>
          </a:p>
        </p:txBody>
      </p: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7472F678-EFC5-FD04-BDA7-E626363A193F}"/>
              </a:ext>
            </a:extLst>
          </p:cNvPr>
          <p:cNvSpPr/>
          <p:nvPr/>
        </p:nvSpPr>
        <p:spPr>
          <a:xfrm>
            <a:off x="193086" y="1035183"/>
            <a:ext cx="4155931" cy="720000"/>
          </a:xfrm>
          <a:prstGeom prst="roundRect">
            <a:avLst/>
          </a:prstGeom>
          <a:solidFill>
            <a:srgbClr val="545756">
              <a:alpha val="46000"/>
            </a:srgbClr>
          </a:solidFill>
          <a:ln w="12700" cap="flat" cmpd="sng">
            <a:solidFill>
              <a:schemeClr val="bg1">
                <a:lumMod val="75000"/>
                <a:alpha val="81000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68300" dist="38100" dir="2700000" algn="tl" rotWithShape="0">
              <a:srgbClr val="44546A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FFFFF"/>
              </a:buClr>
              <a:buSzPts val="2400"/>
            </a:pPr>
            <a:endParaRPr lang="ru-RU" sz="1300" b="1">
              <a:latin typeface="Verdana"/>
              <a:ea typeface="Verdana"/>
            </a:endParaRPr>
          </a:p>
        </p:txBody>
      </p:sp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16BF5555-B266-5412-BFCE-C7928D0741F4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3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7" name="Google Shape;127;p19">
            <a:extLst>
              <a:ext uri="{FF2B5EF4-FFF2-40B4-BE49-F238E27FC236}">
                <a16:creationId xmlns:a16="http://schemas.microsoft.com/office/drawing/2014/main" id="{39EB4CF8-9394-0698-FBCE-3BAF469503D2}"/>
              </a:ext>
            </a:extLst>
          </p:cNvPr>
          <p:cNvSpPr/>
          <p:nvPr/>
        </p:nvSpPr>
        <p:spPr>
          <a:xfrm>
            <a:off x="844229" y="345857"/>
            <a:ext cx="2498131" cy="47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ru" sz="2200" b="1" dirty="0">
                <a:solidFill>
                  <a:srgbClr val="FFFFFF"/>
                </a:solidFill>
                <a:latin typeface="+mn-lt"/>
                <a:ea typeface="Calibri"/>
                <a:cs typeface="Calibri"/>
                <a:sym typeface="Calibri"/>
              </a:rPr>
              <a:t>Разработчиков</a:t>
            </a:r>
            <a:endParaRPr sz="2200" b="1" dirty="0">
              <a:solidFill>
                <a:srgbClr val="FFFFFF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9">
            <a:extLst>
              <a:ext uri="{FF2B5EF4-FFF2-40B4-BE49-F238E27FC236}">
                <a16:creationId xmlns:a16="http://schemas.microsoft.com/office/drawing/2014/main" id="{1B6B4621-4A76-E421-85AC-E310DEA5826E}"/>
              </a:ext>
            </a:extLst>
          </p:cNvPr>
          <p:cNvSpPr/>
          <p:nvPr/>
        </p:nvSpPr>
        <p:spPr>
          <a:xfrm>
            <a:off x="3512163" y="-65727"/>
            <a:ext cx="2119673" cy="54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ru" sz="2800" b="1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Проблемы</a:t>
            </a:r>
            <a:endParaRPr sz="2800" b="1" dirty="0">
              <a:solidFill>
                <a:srgbClr val="FFFFFF"/>
              </a:solidFill>
              <a:latin typeface="+mj-lt"/>
              <a:ea typeface="Inter"/>
              <a:cs typeface="Inter"/>
              <a:sym typeface="Inter"/>
            </a:endParaRPr>
          </a:p>
        </p:txBody>
      </p:sp>
      <p:pic>
        <p:nvPicPr>
          <p:cNvPr id="129" name="Google Shape;129;p19" descr="preencoded.png">
            <a:extLst>
              <a:ext uri="{FF2B5EF4-FFF2-40B4-BE49-F238E27FC236}">
                <a16:creationId xmlns:a16="http://schemas.microsoft.com/office/drawing/2014/main" id="{EFDDCD98-B33F-9DBE-B833-E6110311839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446555" y="3504327"/>
            <a:ext cx="1407839" cy="147074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19">
            <a:extLst>
              <a:ext uri="{FF2B5EF4-FFF2-40B4-BE49-F238E27FC236}">
                <a16:creationId xmlns:a16="http://schemas.microsoft.com/office/drawing/2014/main" id="{EEF46978-F343-E143-721E-EE2BD06245F3}"/>
              </a:ext>
            </a:extLst>
          </p:cNvPr>
          <p:cNvSpPr/>
          <p:nvPr/>
        </p:nvSpPr>
        <p:spPr>
          <a:xfrm>
            <a:off x="5950298" y="388680"/>
            <a:ext cx="1738030" cy="47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ru" sz="2200" b="1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Игроков</a:t>
            </a:r>
            <a:endParaRPr sz="2200" b="1" dirty="0">
              <a:solidFill>
                <a:srgbClr val="FFFFFF"/>
              </a:solidFill>
              <a:latin typeface="+mj-lt"/>
              <a:ea typeface="Inter"/>
              <a:cs typeface="Inter"/>
              <a:sym typeface="Inter"/>
            </a:endParaRPr>
          </a:p>
        </p:txBody>
      </p:sp>
      <p:pic>
        <p:nvPicPr>
          <p:cNvPr id="14" name="Рисунок 13" descr="Линия со стрелкой: изгиб против часовой стрелки со сплошной заливкой">
            <a:extLst>
              <a:ext uri="{FF2B5EF4-FFF2-40B4-BE49-F238E27FC236}">
                <a16:creationId xmlns:a16="http://schemas.microsoft.com/office/drawing/2014/main" id="{DB3E5CA1-47E6-505B-96C7-AFA058C15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005948" flipH="1">
            <a:off x="3231465" y="25231"/>
            <a:ext cx="922107" cy="1181679"/>
          </a:xfrm>
          <a:prstGeom prst="rect">
            <a:avLst/>
          </a:prstGeom>
        </p:spPr>
      </p:pic>
      <p:pic>
        <p:nvPicPr>
          <p:cNvPr id="5" name="Рисунок 4" descr="Группа мужчин со сплошной заливкой">
            <a:extLst>
              <a:ext uri="{FF2B5EF4-FFF2-40B4-BE49-F238E27FC236}">
                <a16:creationId xmlns:a16="http://schemas.microsoft.com/office/drawing/2014/main" id="{6654B4C5-504D-4343-CD31-144E4E71BB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604" y="1038098"/>
            <a:ext cx="723096" cy="723096"/>
          </a:xfrm>
          <a:prstGeom prst="rect">
            <a:avLst/>
          </a:prstGeom>
        </p:spPr>
      </p:pic>
      <p:pic>
        <p:nvPicPr>
          <p:cNvPr id="9" name="Рисунок 8" descr="Рукопожатие со сплошной заливкой">
            <a:extLst>
              <a:ext uri="{FF2B5EF4-FFF2-40B4-BE49-F238E27FC236}">
                <a16:creationId xmlns:a16="http://schemas.microsoft.com/office/drawing/2014/main" id="{62FF517F-5E07-97AB-87E7-A6CF9EB90F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2392" y="2540629"/>
            <a:ext cx="963698" cy="963698"/>
          </a:xfrm>
          <a:prstGeom prst="rect">
            <a:avLst/>
          </a:prstGeom>
        </p:spPr>
      </p:pic>
      <p:pic>
        <p:nvPicPr>
          <p:cNvPr id="11" name="Рисунок 10" descr="Монеты со сплошной заливкой">
            <a:extLst>
              <a:ext uri="{FF2B5EF4-FFF2-40B4-BE49-F238E27FC236}">
                <a16:creationId xmlns:a16="http://schemas.microsoft.com/office/drawing/2014/main" id="{D7C0FDC0-7271-8EAA-E479-5259CE02A6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372" y="4259197"/>
            <a:ext cx="751227" cy="751227"/>
          </a:xfrm>
          <a:prstGeom prst="rect">
            <a:avLst/>
          </a:prstGeom>
        </p:spPr>
      </p:pic>
      <p:pic>
        <p:nvPicPr>
          <p:cNvPr id="15" name="Рисунок 14" descr="Игровой контроллер со сплошной заливкой">
            <a:extLst>
              <a:ext uri="{FF2B5EF4-FFF2-40B4-BE49-F238E27FC236}">
                <a16:creationId xmlns:a16="http://schemas.microsoft.com/office/drawing/2014/main" id="{E67FE1B4-91E9-5ABB-D22B-C9AD8E86E2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6467" y="1026550"/>
            <a:ext cx="745015" cy="74501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77F25F3-A868-8F5E-A86E-A550B10EEBDD}"/>
              </a:ext>
            </a:extLst>
          </p:cNvPr>
          <p:cNvSpPr txBox="1"/>
          <p:nvPr/>
        </p:nvSpPr>
        <p:spPr>
          <a:xfrm>
            <a:off x="1434739" y="1121646"/>
            <a:ext cx="19293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Привлечение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новых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игроков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F1E27D-173F-11C5-8A66-B861973C5B3A}"/>
              </a:ext>
            </a:extLst>
          </p:cNvPr>
          <p:cNvSpPr txBox="1"/>
          <p:nvPr/>
        </p:nvSpPr>
        <p:spPr>
          <a:xfrm>
            <a:off x="1443022" y="1910176"/>
            <a:ext cx="2128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Понимание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интересов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игроков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BD7832-F9CE-D254-F8AF-00F42EA61AB3}"/>
              </a:ext>
            </a:extLst>
          </p:cNvPr>
          <p:cNvSpPr txBox="1"/>
          <p:nvPr/>
        </p:nvSpPr>
        <p:spPr>
          <a:xfrm>
            <a:off x="1443022" y="2718108"/>
            <a:ext cx="1888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+mn-lt"/>
              </a:rPr>
              <a:t>Коллаборация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с компаниями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B31FA8-7F95-5591-A5D8-AB1EE07354A1}"/>
              </a:ext>
            </a:extLst>
          </p:cNvPr>
          <p:cNvSpPr txBox="1"/>
          <p:nvPr/>
        </p:nvSpPr>
        <p:spPr>
          <a:xfrm>
            <a:off x="1461833" y="3532265"/>
            <a:ext cx="3518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Повышение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конкурентоспособности</a:t>
            </a: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43003A63-71D8-CB1C-C6D0-C7D9E6332108}"/>
              </a:ext>
            </a:extLst>
          </p:cNvPr>
          <p:cNvCxnSpPr>
            <a:cxnSpLocks/>
          </p:cNvCxnSpPr>
          <p:nvPr/>
        </p:nvCxnSpPr>
        <p:spPr>
          <a:xfrm flipH="1">
            <a:off x="401960" y="4350095"/>
            <a:ext cx="768096" cy="547822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58D4075-7E31-02BE-D27B-0CB60F2E0433}"/>
              </a:ext>
            </a:extLst>
          </p:cNvPr>
          <p:cNvSpPr txBox="1"/>
          <p:nvPr/>
        </p:nvSpPr>
        <p:spPr>
          <a:xfrm>
            <a:off x="1455058" y="4335715"/>
            <a:ext cx="227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Дополнительное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финансирование</a:t>
            </a: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A60FE7A8-806A-EA4F-421E-90AEBEB4B79F}"/>
              </a:ext>
            </a:extLst>
          </p:cNvPr>
          <p:cNvCxnSpPr>
            <a:cxnSpLocks/>
          </p:cNvCxnSpPr>
          <p:nvPr/>
        </p:nvCxnSpPr>
        <p:spPr>
          <a:xfrm flipH="1">
            <a:off x="458484" y="2711494"/>
            <a:ext cx="707216" cy="549135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39F57BC7-E6E0-A1E1-DD93-88CBF68910F9}"/>
              </a:ext>
            </a:extLst>
          </p:cNvPr>
          <p:cNvCxnSpPr>
            <a:cxnSpLocks/>
          </p:cNvCxnSpPr>
          <p:nvPr/>
        </p:nvCxnSpPr>
        <p:spPr>
          <a:xfrm flipH="1">
            <a:off x="417721" y="1127198"/>
            <a:ext cx="708273" cy="549528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Рисунок 74" descr="Звезда со сплошной заливкой">
            <a:extLst>
              <a:ext uri="{FF2B5EF4-FFF2-40B4-BE49-F238E27FC236}">
                <a16:creationId xmlns:a16="http://schemas.microsoft.com/office/drawing/2014/main" id="{10EF38CB-7178-8517-CA30-306E8D6E5B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1215" y="2029852"/>
            <a:ext cx="278802" cy="278802"/>
          </a:xfrm>
          <a:prstGeom prst="rect">
            <a:avLst/>
          </a:prstGeom>
        </p:spPr>
      </p:pic>
      <p:pic>
        <p:nvPicPr>
          <p:cNvPr id="77" name="Рисунок 76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3FF4F174-FE74-0AA1-5EF0-1A628FA550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0156" y="3451816"/>
            <a:ext cx="714350" cy="71435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FDCC485-0EFE-F9F8-8B5A-2D83866956DF}"/>
              </a:ext>
            </a:extLst>
          </p:cNvPr>
          <p:cNvSpPr txBox="1"/>
          <p:nvPr/>
        </p:nvSpPr>
        <p:spPr>
          <a:xfrm>
            <a:off x="6064686" y="1096868"/>
            <a:ext cx="22705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+mn-lt"/>
              </a:rPr>
              <a:t>Невозможно влиять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на разработку игр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E11211-4B52-E48F-C832-C34ECDE212F8}"/>
              </a:ext>
            </a:extLst>
          </p:cNvPr>
          <p:cNvSpPr txBox="1"/>
          <p:nvPr/>
        </p:nvSpPr>
        <p:spPr>
          <a:xfrm>
            <a:off x="6064686" y="2698871"/>
            <a:ext cx="2309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+mn-lt"/>
              </a:rPr>
              <a:t>Нет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дохода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от вложений в игру</a:t>
            </a:r>
          </a:p>
        </p:txBody>
      </p:sp>
      <p:pic>
        <p:nvPicPr>
          <p:cNvPr id="85" name="Рисунок 84" descr="Звезда со сплошной заливкой">
            <a:extLst>
              <a:ext uri="{FF2B5EF4-FFF2-40B4-BE49-F238E27FC236}">
                <a16:creationId xmlns:a16="http://schemas.microsoft.com/office/drawing/2014/main" id="{94807E92-65A9-7B7B-952D-0EE37F5FF3F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9331" y="2021425"/>
            <a:ext cx="278802" cy="278802"/>
          </a:xfrm>
          <a:prstGeom prst="rect">
            <a:avLst/>
          </a:prstGeom>
        </p:spPr>
      </p:pic>
      <p:pic>
        <p:nvPicPr>
          <p:cNvPr id="86" name="Рисунок 85" descr="Звезда со сплошной заливкой">
            <a:extLst>
              <a:ext uri="{FF2B5EF4-FFF2-40B4-BE49-F238E27FC236}">
                <a16:creationId xmlns:a16="http://schemas.microsoft.com/office/drawing/2014/main" id="{408340D4-CEB4-F2F2-C955-E2980722B8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6797" y="2234897"/>
            <a:ext cx="278802" cy="278802"/>
          </a:xfrm>
          <a:prstGeom prst="rect">
            <a:avLst/>
          </a:prstGeom>
        </p:spPr>
      </p:pic>
      <p:pic>
        <p:nvPicPr>
          <p:cNvPr id="87" name="Рисунок 86" descr="Звезда со сплошной заливкой">
            <a:extLst>
              <a:ext uri="{FF2B5EF4-FFF2-40B4-BE49-F238E27FC236}">
                <a16:creationId xmlns:a16="http://schemas.microsoft.com/office/drawing/2014/main" id="{F99162C9-DAF5-7845-D394-72564E50D9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0249" y="2226489"/>
            <a:ext cx="278802" cy="278802"/>
          </a:xfrm>
          <a:prstGeom prst="rect">
            <a:avLst/>
          </a:prstGeom>
        </p:spPr>
      </p:pic>
      <p:pic>
        <p:nvPicPr>
          <p:cNvPr id="88" name="Рисунок 87" descr="Звезда со сплошной заливкой">
            <a:extLst>
              <a:ext uri="{FF2B5EF4-FFF2-40B4-BE49-F238E27FC236}">
                <a16:creationId xmlns:a16="http://schemas.microsoft.com/office/drawing/2014/main" id="{8184A585-8D5D-6623-115F-052BB1AA2F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3381" y="2238020"/>
            <a:ext cx="278802" cy="278802"/>
          </a:xfrm>
          <a:prstGeom prst="rect">
            <a:avLst/>
          </a:prstGeom>
        </p:spPr>
      </p:pic>
      <p:cxnSp>
        <p:nvCxnSpPr>
          <p:cNvPr id="89" name="Прямая соединительная линия 88">
            <a:extLst>
              <a:ext uri="{FF2B5EF4-FFF2-40B4-BE49-F238E27FC236}">
                <a16:creationId xmlns:a16="http://schemas.microsoft.com/office/drawing/2014/main" id="{1B541A92-77F3-66B4-C42A-811DC1BB5676}"/>
              </a:ext>
            </a:extLst>
          </p:cNvPr>
          <p:cNvCxnSpPr>
            <a:cxnSpLocks/>
          </p:cNvCxnSpPr>
          <p:nvPr/>
        </p:nvCxnSpPr>
        <p:spPr>
          <a:xfrm flipH="1">
            <a:off x="438877" y="1927903"/>
            <a:ext cx="691226" cy="529556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>
            <a:extLst>
              <a:ext uri="{FF2B5EF4-FFF2-40B4-BE49-F238E27FC236}">
                <a16:creationId xmlns:a16="http://schemas.microsoft.com/office/drawing/2014/main" id="{1AC9F8DE-0E52-0615-488C-5402951C9D51}"/>
              </a:ext>
            </a:extLst>
          </p:cNvPr>
          <p:cNvCxnSpPr>
            <a:cxnSpLocks/>
          </p:cNvCxnSpPr>
          <p:nvPr/>
        </p:nvCxnSpPr>
        <p:spPr>
          <a:xfrm flipH="1">
            <a:off x="427778" y="3532265"/>
            <a:ext cx="666728" cy="550731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Рисунок 90" descr="Монеты со сплошной заливкой">
            <a:extLst>
              <a:ext uri="{FF2B5EF4-FFF2-40B4-BE49-F238E27FC236}">
                <a16:creationId xmlns:a16="http://schemas.microsoft.com/office/drawing/2014/main" id="{71618965-4666-C96F-23C7-56E050EEBE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8672" y="2676160"/>
            <a:ext cx="678713" cy="678713"/>
          </a:xfrm>
          <a:prstGeom prst="rect">
            <a:avLst/>
          </a:prstGeom>
        </p:spPr>
      </p:pic>
      <p:pic>
        <p:nvPicPr>
          <p:cNvPr id="94" name="Рисунок 93" descr="Звезда со сплошной заливкой">
            <a:extLst>
              <a:ext uri="{FF2B5EF4-FFF2-40B4-BE49-F238E27FC236}">
                <a16:creationId xmlns:a16="http://schemas.microsoft.com/office/drawing/2014/main" id="{55DE5494-B354-50CE-B230-F569B0D54B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898" y="1852269"/>
            <a:ext cx="278802" cy="27880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DE52033-BFA4-A772-DF6E-E51A02431AD9}"/>
              </a:ext>
            </a:extLst>
          </p:cNvPr>
          <p:cNvCxnSpPr>
            <a:cxnSpLocks/>
          </p:cNvCxnSpPr>
          <p:nvPr/>
        </p:nvCxnSpPr>
        <p:spPr>
          <a:xfrm flipH="1">
            <a:off x="5111385" y="2734796"/>
            <a:ext cx="750234" cy="467744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9793C23-F8BB-AECF-3458-F16DB2C22D14}"/>
              </a:ext>
            </a:extLst>
          </p:cNvPr>
          <p:cNvCxnSpPr>
            <a:cxnSpLocks/>
          </p:cNvCxnSpPr>
          <p:nvPr/>
        </p:nvCxnSpPr>
        <p:spPr>
          <a:xfrm flipH="1">
            <a:off x="5056467" y="1157730"/>
            <a:ext cx="751618" cy="503867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Линия со стрелкой: изгиб против часовой стрелки со сплошной заливкой">
            <a:extLst>
              <a:ext uri="{FF2B5EF4-FFF2-40B4-BE49-F238E27FC236}">
                <a16:creationId xmlns:a16="http://schemas.microsoft.com/office/drawing/2014/main" id="{D4A317CC-3C9C-C2BE-30F6-ECC6AD835E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594052">
            <a:off x="4831259" y="21515"/>
            <a:ext cx="922107" cy="1181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B6FFA0-FE1F-B459-6A1B-37B1BCD718E7}"/>
              </a:ext>
            </a:extLst>
          </p:cNvPr>
          <p:cNvSpPr txBox="1"/>
          <p:nvPr/>
        </p:nvSpPr>
        <p:spPr>
          <a:xfrm>
            <a:off x="6064686" y="1946250"/>
            <a:ext cx="2887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+mn-lt"/>
              </a:rPr>
              <a:t>Нет доступа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к эксклюзивному контенту</a:t>
            </a:r>
          </a:p>
        </p:txBody>
      </p:sp>
      <p:pic>
        <p:nvPicPr>
          <p:cNvPr id="19" name="Рисунок 18" descr="Билет со сплошной заливкой">
            <a:extLst>
              <a:ext uri="{FF2B5EF4-FFF2-40B4-BE49-F238E27FC236}">
                <a16:creationId xmlns:a16="http://schemas.microsoft.com/office/drawing/2014/main" id="{4115926B-5886-A9C9-4772-5A76C56CD4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73417" y="1817203"/>
            <a:ext cx="711113" cy="711113"/>
          </a:xfrm>
          <a:prstGeom prst="rect">
            <a:avLst/>
          </a:prstGeom>
        </p:spPr>
      </p:pic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9ED4327-E2C9-5DBE-8803-B6BABC6D3AE8}"/>
              </a:ext>
            </a:extLst>
          </p:cNvPr>
          <p:cNvCxnSpPr>
            <a:cxnSpLocks/>
          </p:cNvCxnSpPr>
          <p:nvPr/>
        </p:nvCxnSpPr>
        <p:spPr>
          <a:xfrm flipH="1">
            <a:off x="5103096" y="1981944"/>
            <a:ext cx="715295" cy="475515"/>
          </a:xfrm>
          <a:prstGeom prst="line">
            <a:avLst/>
          </a:prstGeom>
          <a:ln w="63500" cap="rnd">
            <a:solidFill>
              <a:srgbClr val="C00000"/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4651F-F98E-910E-E3DA-E7196352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C8E4DB-2787-65A7-CC52-5D73C46262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377A7B9-307B-CC74-5D17-A4BB8156D189}"/>
              </a:ext>
            </a:extLst>
          </p:cNvPr>
          <p:cNvSpPr/>
          <p:nvPr/>
        </p:nvSpPr>
        <p:spPr>
          <a:xfrm rot="19752169">
            <a:off x="2993541" y="187806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47F44C0-714C-3031-6313-B0BBA73362D9}"/>
              </a:ext>
            </a:extLst>
          </p:cNvPr>
          <p:cNvSpPr/>
          <p:nvPr/>
        </p:nvSpPr>
        <p:spPr>
          <a:xfrm rot="19752169">
            <a:off x="3709822" y="1463754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50DF9D1-E3AF-DB03-92BE-06D33D8CDDB5}"/>
              </a:ext>
            </a:extLst>
          </p:cNvPr>
          <p:cNvSpPr/>
          <p:nvPr/>
        </p:nvSpPr>
        <p:spPr>
          <a:xfrm rot="19752169">
            <a:off x="4426103" y="2682953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8F7282-811E-2042-6408-BC157345DF2D}"/>
              </a:ext>
            </a:extLst>
          </p:cNvPr>
          <p:cNvSpPr/>
          <p:nvPr/>
        </p:nvSpPr>
        <p:spPr>
          <a:xfrm rot="19752169">
            <a:off x="5142384" y="3856069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C2A550-AD58-F55D-AADA-0BEDB8BEB1EE}"/>
              </a:ext>
            </a:extLst>
          </p:cNvPr>
          <p:cNvSpPr/>
          <p:nvPr/>
        </p:nvSpPr>
        <p:spPr>
          <a:xfrm rot="19752169">
            <a:off x="2277261" y="-985311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6FB31F-6DCF-ED62-3222-0B4766433A30}"/>
              </a:ext>
            </a:extLst>
          </p:cNvPr>
          <p:cNvSpPr/>
          <p:nvPr/>
        </p:nvSpPr>
        <p:spPr>
          <a:xfrm rot="19752169">
            <a:off x="1512399" y="-2215178"/>
            <a:ext cx="650811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3800" b="0" cap="none" spc="300" dirty="0">
                <a:ln w="0"/>
                <a:gradFill>
                  <a:gsLst>
                    <a:gs pos="9000">
                      <a:srgbClr val="74150E"/>
                    </a:gs>
                    <a:gs pos="94000">
                      <a:srgbClr val="0D0D0D"/>
                    </a:gs>
                  </a:gsLst>
                  <a:lin ang="5400000" scaled="0"/>
                </a:gradFill>
                <a:effectLst/>
              </a:rPr>
              <a:t>АЛЬФА</a:t>
            </a:r>
            <a:endParaRPr lang="ru-RU" sz="7200" b="0" cap="none" spc="300" dirty="0">
              <a:ln w="0"/>
              <a:gradFill>
                <a:gsLst>
                  <a:gs pos="9000">
                    <a:srgbClr val="74150E"/>
                  </a:gs>
                  <a:gs pos="94000">
                    <a:srgbClr val="0D0D0D"/>
                  </a:gs>
                </a:gsLst>
                <a:lin ang="5400000" scaled="0"/>
              </a:gradFill>
              <a:effectLst/>
            </a:endParaRPr>
          </a:p>
        </p:txBody>
      </p:sp>
      <p:sp>
        <p:nvSpPr>
          <p:cNvPr id="16" name="Google Shape;137;p20">
            <a:extLst>
              <a:ext uri="{FF2B5EF4-FFF2-40B4-BE49-F238E27FC236}">
                <a16:creationId xmlns:a16="http://schemas.microsoft.com/office/drawing/2014/main" id="{7BD5484A-1ECB-4A46-3BE1-69967AED083A}"/>
              </a:ext>
            </a:extLst>
          </p:cNvPr>
          <p:cNvSpPr/>
          <p:nvPr/>
        </p:nvSpPr>
        <p:spPr>
          <a:xfrm>
            <a:off x="914627" y="1547812"/>
            <a:ext cx="7314746" cy="20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0"/>
              <a:buFont typeface="Inter"/>
              <a:buNone/>
            </a:pPr>
            <a:r>
              <a:rPr lang="ru" sz="36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Линейка продуктов</a:t>
            </a:r>
            <a:endParaRPr sz="3600" b="1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0"/>
              <a:buFont typeface="Inter"/>
              <a:buNone/>
            </a:pPr>
            <a:r>
              <a:rPr lang="ru" sz="36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на рынке ЦФА в области видеоигр</a:t>
            </a:r>
            <a:endParaRPr sz="36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19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F97D6B63-396F-DB53-4C50-1E5C26FE308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4;p21">
            <a:extLst>
              <a:ext uri="{FF2B5EF4-FFF2-40B4-BE49-F238E27FC236}">
                <a16:creationId xmlns:a16="http://schemas.microsoft.com/office/drawing/2014/main" id="{BA21D2D4-A2DB-3DD1-5866-A5DB05632BE1}"/>
              </a:ext>
            </a:extLst>
          </p:cNvPr>
          <p:cNvSpPr/>
          <p:nvPr/>
        </p:nvSpPr>
        <p:spPr>
          <a:xfrm>
            <a:off x="404873" y="240654"/>
            <a:ext cx="7084645" cy="655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lang="ru-RU" sz="2400" spc="300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1. ЦФА НА ВНУТРИИГРОВЫЕ ПРЕДМЕТЫ (СКИНЫ)</a:t>
            </a:r>
            <a:endParaRPr lang="ru-RU" sz="2400" spc="300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" name="Google Shape;148;p21">
            <a:extLst>
              <a:ext uri="{FF2B5EF4-FFF2-40B4-BE49-F238E27FC236}">
                <a16:creationId xmlns:a16="http://schemas.microsoft.com/office/drawing/2014/main" id="{DD9DA632-E498-9C1C-DAAE-DD7AF294C667}"/>
              </a:ext>
            </a:extLst>
          </p:cNvPr>
          <p:cNvSpPr txBox="1"/>
          <p:nvPr/>
        </p:nvSpPr>
        <p:spPr>
          <a:xfrm>
            <a:off x="404873" y="2234518"/>
            <a:ext cx="376581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Гибридные</a:t>
            </a: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цифровые права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" name="Google Shape;151;p21">
            <a:extLst>
              <a:ext uri="{FF2B5EF4-FFF2-40B4-BE49-F238E27FC236}">
                <a16:creationId xmlns:a16="http://schemas.microsoft.com/office/drawing/2014/main" id="{13B1EA95-69D5-9152-0478-2D6CA65528A4}"/>
              </a:ext>
            </a:extLst>
          </p:cNvPr>
          <p:cNvSpPr/>
          <p:nvPr/>
        </p:nvSpPr>
        <p:spPr>
          <a:xfrm>
            <a:off x="2750972" y="2931521"/>
            <a:ext cx="1398893" cy="703423"/>
          </a:xfrm>
          <a:prstGeom prst="roundRect">
            <a:avLst>
              <a:gd name="adj" fmla="val 34078"/>
            </a:avLst>
          </a:prstGeom>
          <a:solidFill>
            <a:srgbClr val="EF312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Скин</a:t>
            </a:r>
            <a:endParaRPr sz="16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" name="Google Shape;152;p21">
            <a:extLst>
              <a:ext uri="{FF2B5EF4-FFF2-40B4-BE49-F238E27FC236}">
                <a16:creationId xmlns:a16="http://schemas.microsoft.com/office/drawing/2014/main" id="{03AFE8E7-045E-D769-53BD-06C608029309}"/>
              </a:ext>
            </a:extLst>
          </p:cNvPr>
          <p:cNvSpPr/>
          <p:nvPr/>
        </p:nvSpPr>
        <p:spPr>
          <a:xfrm>
            <a:off x="499482" y="2900063"/>
            <a:ext cx="1468519" cy="703423"/>
          </a:xfrm>
          <a:prstGeom prst="roundRect">
            <a:avLst>
              <a:gd name="adj" fmla="val 39405"/>
            </a:avLst>
          </a:prstGeom>
          <a:solidFill>
            <a:srgbClr val="EF312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Денежный эквивалент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4CD335D3-40D4-E019-DDF8-B93EF91CA43B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2332635" y="2864896"/>
            <a:ext cx="452152" cy="384522"/>
          </a:xfrm>
          <a:prstGeom prst="curvedConnector2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Соединитель: изогнутый 23">
            <a:extLst>
              <a:ext uri="{FF2B5EF4-FFF2-40B4-BE49-F238E27FC236}">
                <a16:creationId xmlns:a16="http://schemas.microsoft.com/office/drawing/2014/main" id="{6EA54A3F-07B5-2F98-9584-3DD48F3F70DB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1949774" y="2835099"/>
            <a:ext cx="434903" cy="398448"/>
          </a:xfrm>
          <a:prstGeom prst="curvedConnector2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Google Shape;153;p21">
            <a:extLst>
              <a:ext uri="{FF2B5EF4-FFF2-40B4-BE49-F238E27FC236}">
                <a16:creationId xmlns:a16="http://schemas.microsoft.com/office/drawing/2014/main" id="{1550ECD4-D9BB-132A-D6E6-47E9ED660BE9}"/>
              </a:ext>
            </a:extLst>
          </p:cNvPr>
          <p:cNvCxnSpPr>
            <a:cxnSpLocks/>
          </p:cNvCxnSpPr>
          <p:nvPr/>
        </p:nvCxnSpPr>
        <p:spPr>
          <a:xfrm>
            <a:off x="1170597" y="3706969"/>
            <a:ext cx="0" cy="197671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Google Shape;153;p21">
            <a:extLst>
              <a:ext uri="{FF2B5EF4-FFF2-40B4-BE49-F238E27FC236}">
                <a16:creationId xmlns:a16="http://schemas.microsoft.com/office/drawing/2014/main" id="{EE3FA8C6-AFE9-14DF-290B-642D3038B8F7}"/>
              </a:ext>
            </a:extLst>
          </p:cNvPr>
          <p:cNvCxnSpPr>
            <a:cxnSpLocks/>
          </p:cNvCxnSpPr>
          <p:nvPr/>
        </p:nvCxnSpPr>
        <p:spPr>
          <a:xfrm>
            <a:off x="3519917" y="3706969"/>
            <a:ext cx="0" cy="197671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9" name="Google Shape;157;p21">
            <a:extLst>
              <a:ext uri="{FF2B5EF4-FFF2-40B4-BE49-F238E27FC236}">
                <a16:creationId xmlns:a16="http://schemas.microsoft.com/office/drawing/2014/main" id="{AE15D1F8-E7C9-4460-DC6D-DE858C7C8E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571038" y="3753296"/>
            <a:ext cx="1549799" cy="109834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59;p21">
            <a:extLst>
              <a:ext uri="{FF2B5EF4-FFF2-40B4-BE49-F238E27FC236}">
                <a16:creationId xmlns:a16="http://schemas.microsoft.com/office/drawing/2014/main" id="{38624421-C53C-7BA4-BE01-0494A15F4335}"/>
              </a:ext>
            </a:extLst>
          </p:cNvPr>
          <p:cNvSpPr txBox="1"/>
          <p:nvPr/>
        </p:nvSpPr>
        <p:spPr>
          <a:xfrm>
            <a:off x="3429294" y="4183935"/>
            <a:ext cx="1503897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 dirty="0">
                <a:solidFill>
                  <a:schemeClr val="bg1"/>
                </a:solidFill>
              </a:rPr>
              <a:t>+30% точности</a:t>
            </a:r>
            <a:endParaRPr sz="105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 dirty="0">
                <a:solidFill>
                  <a:schemeClr val="bg1"/>
                </a:solidFill>
              </a:rPr>
              <a:t>+10% скрытности</a:t>
            </a:r>
            <a:endParaRPr sz="105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 dirty="0">
                <a:solidFill>
                  <a:schemeClr val="bg1"/>
                </a:solidFill>
              </a:rPr>
              <a:t>+20% уважения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31" name="Google Shape;154;p21">
            <a:extLst>
              <a:ext uri="{FF2B5EF4-FFF2-40B4-BE49-F238E27FC236}">
                <a16:creationId xmlns:a16="http://schemas.microsoft.com/office/drawing/2014/main" id="{EDD875D8-C237-40FF-B806-984F1728AF4F}"/>
              </a:ext>
            </a:extLst>
          </p:cNvPr>
          <p:cNvSpPr/>
          <p:nvPr/>
        </p:nvSpPr>
        <p:spPr>
          <a:xfrm>
            <a:off x="447036" y="3940895"/>
            <a:ext cx="1468517" cy="890064"/>
          </a:xfrm>
          <a:prstGeom prst="roundRect">
            <a:avLst>
              <a:gd name="adj" fmla="val 28705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endParaRPr sz="11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D78EEFE-7523-645A-1F0B-DAE3C3BBEFBD}"/>
              </a:ext>
            </a:extLst>
          </p:cNvPr>
          <p:cNvSpPr/>
          <p:nvPr/>
        </p:nvSpPr>
        <p:spPr>
          <a:xfrm>
            <a:off x="-99060" y="1087213"/>
            <a:ext cx="9309967" cy="105409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EDFF0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Google Shape;162;p21">
            <a:extLst>
              <a:ext uri="{FF2B5EF4-FFF2-40B4-BE49-F238E27FC236}">
                <a16:creationId xmlns:a16="http://schemas.microsoft.com/office/drawing/2014/main" id="{CD12683F-C0AE-A471-5E1C-6A9967FC40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330" t="9849" r="6111" b="5968"/>
          <a:stretch/>
        </p:blipFill>
        <p:spPr>
          <a:xfrm>
            <a:off x="1630078" y="1224046"/>
            <a:ext cx="1238311" cy="86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6992C9C-7737-FAB0-F890-A6B1774EA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505" y="1210497"/>
            <a:ext cx="1146115" cy="86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D8A13E9-D8A0-08D4-F995-046567DA2E33}"/>
              </a:ext>
            </a:extLst>
          </p:cNvPr>
          <p:cNvSpPr/>
          <p:nvPr/>
        </p:nvSpPr>
        <p:spPr>
          <a:xfrm>
            <a:off x="3086247" y="1204063"/>
            <a:ext cx="1238311" cy="86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962773A0-A192-B399-7379-CDDA151A0C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t="19108" r="7359" b="23695"/>
          <a:stretch>
            <a:fillRect/>
          </a:stretch>
        </p:blipFill>
        <p:spPr bwMode="auto">
          <a:xfrm>
            <a:off x="3049777" y="1181492"/>
            <a:ext cx="1274781" cy="86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5E833CF-F934-FFE0-F720-6AE4A96C9422}"/>
              </a:ext>
            </a:extLst>
          </p:cNvPr>
          <p:cNvSpPr/>
          <p:nvPr/>
        </p:nvSpPr>
        <p:spPr>
          <a:xfrm>
            <a:off x="7420938" y="1196024"/>
            <a:ext cx="1238311" cy="86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BFB7B3D-ABF3-BD6C-688C-3CB261DDC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95" y="1225595"/>
            <a:ext cx="859196" cy="85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F07085B5-6725-CF3E-CDE1-24AF7B6EE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1" r="8670"/>
          <a:stretch>
            <a:fillRect/>
          </a:stretch>
        </p:blipFill>
        <p:spPr bwMode="auto">
          <a:xfrm>
            <a:off x="137439" y="1224046"/>
            <a:ext cx="1274781" cy="86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770BBC1C-A3DA-15B3-D5B3-C198F30674F7}"/>
              </a:ext>
            </a:extLst>
          </p:cNvPr>
          <p:cNvSpPr/>
          <p:nvPr/>
        </p:nvSpPr>
        <p:spPr>
          <a:xfrm>
            <a:off x="4561876" y="1202793"/>
            <a:ext cx="1238311" cy="86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60" name="Picture 12" descr="Древний средневековый рыцарский щит Тёмный металл Бронза изолированный фон">
            <a:extLst>
              <a:ext uri="{FF2B5EF4-FFF2-40B4-BE49-F238E27FC236}">
                <a16:creationId xmlns:a16="http://schemas.microsoft.com/office/drawing/2014/main" id="{03BA8F73-AD87-1FA8-4484-41AFA511D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765" y="1197111"/>
            <a:ext cx="835061" cy="83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64EEE37-6479-D3A9-FE5A-03C3005C70AE}"/>
              </a:ext>
            </a:extLst>
          </p:cNvPr>
          <p:cNvSpPr/>
          <p:nvPr/>
        </p:nvSpPr>
        <p:spPr>
          <a:xfrm>
            <a:off x="8896566" y="1218490"/>
            <a:ext cx="268017" cy="86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146;p21">
            <a:extLst>
              <a:ext uri="{FF2B5EF4-FFF2-40B4-BE49-F238E27FC236}">
                <a16:creationId xmlns:a16="http://schemas.microsoft.com/office/drawing/2014/main" id="{61EFE99E-4CB2-8456-DF85-9AC3812A1225}"/>
              </a:ext>
            </a:extLst>
          </p:cNvPr>
          <p:cNvSpPr/>
          <p:nvPr/>
        </p:nvSpPr>
        <p:spPr>
          <a:xfrm>
            <a:off x="6262013" y="709038"/>
            <a:ext cx="2768561" cy="26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25000"/>
              </a:lnSpc>
              <a:buClr>
                <a:srgbClr val="FFFFFF"/>
              </a:buClr>
              <a:buSzPts val="1200"/>
            </a:pPr>
            <a:r>
              <a:rPr lang="ru-RU" sz="1600" dirty="0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для </a:t>
            </a:r>
            <a:r>
              <a:rPr lang="ru-RU" sz="1600" b="1" dirty="0" err="1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НЕ</a:t>
            </a:r>
            <a:r>
              <a:rPr lang="ru-RU" sz="1600" dirty="0" err="1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квал.инвесторов</a:t>
            </a:r>
            <a:endParaRPr sz="1600" dirty="0">
              <a:solidFill>
                <a:srgbClr val="EDFF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4496DA-C7BC-612B-5E47-5FD06B1DF8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2013" y="535624"/>
            <a:ext cx="397320" cy="489947"/>
          </a:xfrm>
          <a:prstGeom prst="rect">
            <a:avLst/>
          </a:prstGeom>
        </p:spPr>
      </p:pic>
      <p:sp>
        <p:nvSpPr>
          <p:cNvPr id="20" name="Google Shape;160;p21">
            <a:extLst>
              <a:ext uri="{FF2B5EF4-FFF2-40B4-BE49-F238E27FC236}">
                <a16:creationId xmlns:a16="http://schemas.microsoft.com/office/drawing/2014/main" id="{0A92EC54-8A75-810D-99CC-BAFB64685C6C}"/>
              </a:ext>
            </a:extLst>
          </p:cNvPr>
          <p:cNvSpPr txBox="1"/>
          <p:nvPr/>
        </p:nvSpPr>
        <p:spPr>
          <a:xfrm>
            <a:off x="60406" y="4814395"/>
            <a:ext cx="707934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D9DAD5"/>
                </a:solidFill>
              </a:rPr>
              <a:t>*</a:t>
            </a:r>
            <a:r>
              <a:rPr lang="ru-RU" sz="1000" dirty="0">
                <a:solidFill>
                  <a:srgbClr val="D9DAD5"/>
                </a:solidFill>
              </a:rPr>
              <a:t>Банк России </a:t>
            </a:r>
            <a:r>
              <a:rPr lang="ru" sz="1000" dirty="0">
                <a:solidFill>
                  <a:srgbClr val="D9DAD5"/>
                </a:solidFill>
              </a:rPr>
              <a:t>рассматривает возможность введения плавающих % ставок для неквалов</a:t>
            </a:r>
            <a:endParaRPr sz="1000" dirty="0">
              <a:solidFill>
                <a:srgbClr val="D9DAD5"/>
              </a:solidFill>
            </a:endParaRPr>
          </a:p>
        </p:txBody>
      </p:sp>
      <p:sp>
        <p:nvSpPr>
          <p:cNvPr id="58" name="Google Shape;371;p38">
            <a:extLst>
              <a:ext uri="{FF2B5EF4-FFF2-40B4-BE49-F238E27FC236}">
                <a16:creationId xmlns:a16="http://schemas.microsoft.com/office/drawing/2014/main" id="{E8FA875E-8D16-E038-8A2F-FB73B7328DDD}"/>
              </a:ext>
            </a:extLst>
          </p:cNvPr>
          <p:cNvSpPr/>
          <p:nvPr/>
        </p:nvSpPr>
        <p:spPr>
          <a:xfrm>
            <a:off x="5639208" y="2352084"/>
            <a:ext cx="3099920" cy="2462312"/>
          </a:xfrm>
          <a:prstGeom prst="roundRect">
            <a:avLst>
              <a:gd name="adj" fmla="val 15018"/>
            </a:avLst>
          </a:prstGeom>
          <a:solidFill>
            <a:srgbClr val="545756">
              <a:alpha val="31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146;p21">
            <a:extLst>
              <a:ext uri="{FF2B5EF4-FFF2-40B4-BE49-F238E27FC236}">
                <a16:creationId xmlns:a16="http://schemas.microsoft.com/office/drawing/2014/main" id="{623ACA49-2AC5-38E6-8493-A354A0F9AE47}"/>
              </a:ext>
            </a:extLst>
          </p:cNvPr>
          <p:cNvSpPr/>
          <p:nvPr/>
        </p:nvSpPr>
        <p:spPr>
          <a:xfrm>
            <a:off x="5837708" y="2416293"/>
            <a:ext cx="2442429" cy="36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Критерии игры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0" name="Google Shape;376;p38">
            <a:extLst>
              <a:ext uri="{FF2B5EF4-FFF2-40B4-BE49-F238E27FC236}">
                <a16:creationId xmlns:a16="http://schemas.microsoft.com/office/drawing/2014/main" id="{5F7127C7-9018-A451-90C0-0D987B40E262}"/>
              </a:ext>
            </a:extLst>
          </p:cNvPr>
          <p:cNvSpPr/>
          <p:nvPr/>
        </p:nvSpPr>
        <p:spPr>
          <a:xfrm>
            <a:off x="5731017" y="2840345"/>
            <a:ext cx="2928232" cy="535284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146;p21">
            <a:extLst>
              <a:ext uri="{FF2B5EF4-FFF2-40B4-BE49-F238E27FC236}">
                <a16:creationId xmlns:a16="http://schemas.microsoft.com/office/drawing/2014/main" id="{A35CB7B3-956E-7B27-B18C-552F1FEEBBA8}"/>
              </a:ext>
            </a:extLst>
          </p:cNvPr>
          <p:cNvSpPr/>
          <p:nvPr/>
        </p:nvSpPr>
        <p:spPr>
          <a:xfrm>
            <a:off x="6342596" y="2914943"/>
            <a:ext cx="2553969" cy="36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Многопользовательская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3" name="Google Shape;376;p38">
            <a:extLst>
              <a:ext uri="{FF2B5EF4-FFF2-40B4-BE49-F238E27FC236}">
                <a16:creationId xmlns:a16="http://schemas.microsoft.com/office/drawing/2014/main" id="{AB54CBDF-5711-078D-0B1C-ABC658F4AEEC}"/>
              </a:ext>
            </a:extLst>
          </p:cNvPr>
          <p:cNvSpPr/>
          <p:nvPr/>
        </p:nvSpPr>
        <p:spPr>
          <a:xfrm>
            <a:off x="5738947" y="3489025"/>
            <a:ext cx="2928233" cy="524692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146;p21">
            <a:extLst>
              <a:ext uri="{FF2B5EF4-FFF2-40B4-BE49-F238E27FC236}">
                <a16:creationId xmlns:a16="http://schemas.microsoft.com/office/drawing/2014/main" id="{5BBCEAF6-5B57-E954-D862-BE5DC11ECD29}"/>
              </a:ext>
            </a:extLst>
          </p:cNvPr>
          <p:cNvSpPr/>
          <p:nvPr/>
        </p:nvSpPr>
        <p:spPr>
          <a:xfrm>
            <a:off x="6516901" y="3572902"/>
            <a:ext cx="2442429" cy="36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Сетевая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49" name="Google Shape;376;p38">
            <a:extLst>
              <a:ext uri="{FF2B5EF4-FFF2-40B4-BE49-F238E27FC236}">
                <a16:creationId xmlns:a16="http://schemas.microsoft.com/office/drawing/2014/main" id="{9E06891E-5FD4-CF94-40F9-8C2F24FE65FB}"/>
              </a:ext>
            </a:extLst>
          </p:cNvPr>
          <p:cNvSpPr/>
          <p:nvPr/>
        </p:nvSpPr>
        <p:spPr>
          <a:xfrm>
            <a:off x="5751600" y="4136447"/>
            <a:ext cx="2915580" cy="539836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146;p21">
            <a:extLst>
              <a:ext uri="{FF2B5EF4-FFF2-40B4-BE49-F238E27FC236}">
                <a16:creationId xmlns:a16="http://schemas.microsoft.com/office/drawing/2014/main" id="{F51DF8F0-B817-B5BF-2C14-30974E41A68A}"/>
              </a:ext>
            </a:extLst>
          </p:cNvPr>
          <p:cNvSpPr/>
          <p:nvPr/>
        </p:nvSpPr>
        <p:spPr>
          <a:xfrm>
            <a:off x="6512227" y="4209710"/>
            <a:ext cx="2843373" cy="36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Продажа скинов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C34537BF-F51B-7409-C633-5786D3516129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5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6" name="Рисунок 5" descr="Пользователи со сплошной заливкой">
            <a:extLst>
              <a:ext uri="{FF2B5EF4-FFF2-40B4-BE49-F238E27FC236}">
                <a16:creationId xmlns:a16="http://schemas.microsoft.com/office/drawing/2014/main" id="{A8C9C285-4AC6-BEDB-4B94-A586D18F2A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76918" y="2867769"/>
            <a:ext cx="507860" cy="507860"/>
          </a:xfrm>
          <a:prstGeom prst="rect">
            <a:avLst/>
          </a:prstGeom>
        </p:spPr>
      </p:pic>
      <p:pic>
        <p:nvPicPr>
          <p:cNvPr id="14" name="Рисунок 13" descr="Подключения со сплошной заливкой">
            <a:extLst>
              <a:ext uri="{FF2B5EF4-FFF2-40B4-BE49-F238E27FC236}">
                <a16:creationId xmlns:a16="http://schemas.microsoft.com/office/drawing/2014/main" id="{527F742B-2B99-25B3-8386-D421F5B5F5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28771" y="3523306"/>
            <a:ext cx="490410" cy="490410"/>
          </a:xfrm>
          <a:prstGeom prst="rect">
            <a:avLst/>
          </a:prstGeom>
        </p:spPr>
      </p:pic>
      <p:pic>
        <p:nvPicPr>
          <p:cNvPr id="19" name="Рисунок 18" descr="Лук и стрела со сплошной заливкой">
            <a:extLst>
              <a:ext uri="{FF2B5EF4-FFF2-40B4-BE49-F238E27FC236}">
                <a16:creationId xmlns:a16="http://schemas.microsoft.com/office/drawing/2014/main" id="{0A775B1B-30BA-2EA4-3D2E-DDD77CDA88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20895" y="4196628"/>
            <a:ext cx="463883" cy="463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20C6C-062F-C416-8E22-4A19B926C8E6}"/>
              </a:ext>
            </a:extLst>
          </p:cNvPr>
          <p:cNvSpPr txBox="1"/>
          <p:nvPr/>
        </p:nvSpPr>
        <p:spPr>
          <a:xfrm>
            <a:off x="314524" y="4008123"/>
            <a:ext cx="1701495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80000"/>
              </a:lnSpc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Номинальная </a:t>
            </a:r>
          </a:p>
          <a:p>
            <a:pPr marL="0" marR="0" lvl="0" indent="0" algn="ctr" rtl="0">
              <a:lnSpc>
                <a:spcPct val="80000"/>
              </a:lnSpc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стоимость 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rtl="0">
              <a:lnSpc>
                <a:spcPct val="80000"/>
              </a:lnSpc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+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rtl="0">
              <a:lnSpc>
                <a:spcPct val="80000"/>
              </a:lnSpc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Фикс. ставка*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10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DBF2-7979-EB0C-4CF7-38EC6E71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A781B7ED-953D-D8AE-F18A-8CA1707F3DFA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76;p38">
            <a:extLst>
              <a:ext uri="{FF2B5EF4-FFF2-40B4-BE49-F238E27FC236}">
                <a16:creationId xmlns:a16="http://schemas.microsoft.com/office/drawing/2014/main" id="{40384D36-753E-ACB6-F57A-3B38B834B95E}"/>
              </a:ext>
            </a:extLst>
          </p:cNvPr>
          <p:cNvSpPr/>
          <p:nvPr/>
        </p:nvSpPr>
        <p:spPr>
          <a:xfrm>
            <a:off x="6351731" y="2732055"/>
            <a:ext cx="2568921" cy="661023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4;p21">
            <a:extLst>
              <a:ext uri="{FF2B5EF4-FFF2-40B4-BE49-F238E27FC236}">
                <a16:creationId xmlns:a16="http://schemas.microsoft.com/office/drawing/2014/main" id="{F2789B19-2717-F52C-31B6-7A3BE5359450}"/>
              </a:ext>
            </a:extLst>
          </p:cNvPr>
          <p:cNvSpPr/>
          <p:nvPr/>
        </p:nvSpPr>
        <p:spPr>
          <a:xfrm>
            <a:off x="406938" y="165062"/>
            <a:ext cx="7084645" cy="42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lang="ru-RU" sz="2400" spc="300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2. </a:t>
            </a:r>
            <a:r>
              <a:rPr lang="en-US" sz="2400" spc="300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FAN-</a:t>
            </a:r>
            <a:r>
              <a:rPr lang="ru-RU" sz="2400" spc="300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ТОКЕН</a:t>
            </a:r>
            <a:endParaRPr lang="ru-RU" sz="2400" spc="300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148;p21">
            <a:extLst>
              <a:ext uri="{FF2B5EF4-FFF2-40B4-BE49-F238E27FC236}">
                <a16:creationId xmlns:a16="http://schemas.microsoft.com/office/drawing/2014/main" id="{E42DAF2F-33D2-ABE4-78B0-102844418AB9}"/>
              </a:ext>
            </a:extLst>
          </p:cNvPr>
          <p:cNvSpPr txBox="1"/>
          <p:nvPr/>
        </p:nvSpPr>
        <p:spPr>
          <a:xfrm>
            <a:off x="406938" y="1070230"/>
            <a:ext cx="25820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Денежное требование</a:t>
            </a:r>
            <a:endParaRPr sz="1600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154;p21">
            <a:extLst>
              <a:ext uri="{FF2B5EF4-FFF2-40B4-BE49-F238E27FC236}">
                <a16:creationId xmlns:a16="http://schemas.microsoft.com/office/drawing/2014/main" id="{AAD0A52D-6AEE-6C52-4A03-6A777E2E7B87}"/>
              </a:ext>
            </a:extLst>
          </p:cNvPr>
          <p:cNvSpPr/>
          <p:nvPr/>
        </p:nvSpPr>
        <p:spPr>
          <a:xfrm>
            <a:off x="388418" y="3646684"/>
            <a:ext cx="2478152" cy="816065"/>
          </a:xfrm>
          <a:prstGeom prst="roundRect">
            <a:avLst>
              <a:gd name="adj" fmla="val 28705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Номинальная стоимость 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+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Фикс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ставка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*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14" name="Google Shape;153;p21">
            <a:extLst>
              <a:ext uri="{FF2B5EF4-FFF2-40B4-BE49-F238E27FC236}">
                <a16:creationId xmlns:a16="http://schemas.microsoft.com/office/drawing/2014/main" id="{88E232F3-D18F-5AC6-8068-1E8CD2EB0355}"/>
              </a:ext>
            </a:extLst>
          </p:cNvPr>
          <p:cNvCxnSpPr>
            <a:cxnSpLocks/>
          </p:cNvCxnSpPr>
          <p:nvPr/>
        </p:nvCxnSpPr>
        <p:spPr>
          <a:xfrm>
            <a:off x="1631868" y="1418688"/>
            <a:ext cx="0" cy="230265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6174039-339F-AC58-2E9F-58A52121705C}"/>
              </a:ext>
            </a:extLst>
          </p:cNvPr>
          <p:cNvSpPr/>
          <p:nvPr/>
        </p:nvSpPr>
        <p:spPr>
          <a:xfrm>
            <a:off x="460728" y="1682782"/>
            <a:ext cx="2342280" cy="1616892"/>
          </a:xfrm>
          <a:prstGeom prst="roundRect">
            <a:avLst>
              <a:gd name="adj" fmla="val 15609"/>
            </a:avLst>
          </a:prstGeom>
          <a:solidFill>
            <a:srgbClr val="EF3123">
              <a:alpha val="22000"/>
            </a:srgbClr>
          </a:solidFill>
          <a:ln>
            <a:solidFill>
              <a:srgbClr val="EF3123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8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Эксклюзивный контент</a:t>
            </a:r>
          </a:p>
          <a:p>
            <a:pPr lvl="0" algn="ctr">
              <a:lnSpc>
                <a:spcPct val="114000"/>
              </a:lnSpc>
              <a:spcBef>
                <a:spcPts val="8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Голосование</a:t>
            </a:r>
          </a:p>
          <a:p>
            <a:pPr lvl="0" algn="ctr">
              <a:lnSpc>
                <a:spcPct val="114000"/>
              </a:lnSpc>
              <a:spcBef>
                <a:spcPts val="8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Участие в разработке </a:t>
            </a:r>
            <a:endParaRPr lang="ru-RU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ctr">
              <a:lnSpc>
                <a:spcPct val="114000"/>
              </a:lnSpc>
              <a:spcBef>
                <a:spcPts val="8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Calibri"/>
              </a:rPr>
              <a:t>Коммуникация</a:t>
            </a:r>
            <a:endParaRPr lang="ru-RU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oogle Shape;153;p21">
            <a:extLst>
              <a:ext uri="{FF2B5EF4-FFF2-40B4-BE49-F238E27FC236}">
                <a16:creationId xmlns:a16="http://schemas.microsoft.com/office/drawing/2014/main" id="{F35E8AB1-28A9-3FC2-93D6-004A1F59C17A}"/>
              </a:ext>
            </a:extLst>
          </p:cNvPr>
          <p:cNvCxnSpPr>
            <a:cxnSpLocks/>
          </p:cNvCxnSpPr>
          <p:nvPr/>
        </p:nvCxnSpPr>
        <p:spPr>
          <a:xfrm>
            <a:off x="1620513" y="3337130"/>
            <a:ext cx="0" cy="230265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51" name="Google Shape;146;p21">
            <a:extLst>
              <a:ext uri="{FF2B5EF4-FFF2-40B4-BE49-F238E27FC236}">
                <a16:creationId xmlns:a16="http://schemas.microsoft.com/office/drawing/2014/main" id="{61AC5B63-BB12-DD89-7CE7-B0BDCB42CC60}"/>
              </a:ext>
            </a:extLst>
          </p:cNvPr>
          <p:cNvSpPr/>
          <p:nvPr/>
        </p:nvSpPr>
        <p:spPr>
          <a:xfrm>
            <a:off x="6262013" y="709038"/>
            <a:ext cx="2768561" cy="26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25000"/>
              </a:lnSpc>
              <a:buClr>
                <a:srgbClr val="FFFFFF"/>
              </a:buClr>
              <a:buSzPts val="1200"/>
            </a:pPr>
            <a:r>
              <a:rPr lang="ru-RU" sz="1600" dirty="0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для </a:t>
            </a:r>
            <a:r>
              <a:rPr lang="ru-RU" sz="1600" b="1" dirty="0" err="1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НЕ</a:t>
            </a:r>
            <a:r>
              <a:rPr lang="ru-RU" sz="1600" dirty="0" err="1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квал.инвесторов</a:t>
            </a:r>
            <a:endParaRPr sz="1600" dirty="0">
              <a:solidFill>
                <a:srgbClr val="EDFF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2053" name="Рисунок 2052">
            <a:extLst>
              <a:ext uri="{FF2B5EF4-FFF2-40B4-BE49-F238E27FC236}">
                <a16:creationId xmlns:a16="http://schemas.microsoft.com/office/drawing/2014/main" id="{0A94DE54-DD6C-201F-46AF-2EDD3B125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2013" y="535624"/>
            <a:ext cx="397320" cy="489947"/>
          </a:xfrm>
          <a:prstGeom prst="rect">
            <a:avLst/>
          </a:prstGeom>
        </p:spPr>
      </p:pic>
      <p:sp>
        <p:nvSpPr>
          <p:cNvPr id="4" name="Google Shape;126;p19">
            <a:extLst>
              <a:ext uri="{FF2B5EF4-FFF2-40B4-BE49-F238E27FC236}">
                <a16:creationId xmlns:a16="http://schemas.microsoft.com/office/drawing/2014/main" id="{95AC2782-675E-1852-4D45-C17DA6DA65FD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6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4CC802F-FA52-BC7D-A973-82575A773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3670" y="1953910"/>
            <a:ext cx="2306677" cy="16779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9" name="Google Shape;371;p38">
            <a:extLst>
              <a:ext uri="{FF2B5EF4-FFF2-40B4-BE49-F238E27FC236}">
                <a16:creationId xmlns:a16="http://schemas.microsoft.com/office/drawing/2014/main" id="{E8324B4A-FE1B-2229-7145-DC52799EB5A7}"/>
              </a:ext>
            </a:extLst>
          </p:cNvPr>
          <p:cNvSpPr/>
          <p:nvPr/>
        </p:nvSpPr>
        <p:spPr>
          <a:xfrm>
            <a:off x="6262013" y="1540950"/>
            <a:ext cx="2781697" cy="2742274"/>
          </a:xfrm>
          <a:prstGeom prst="roundRect">
            <a:avLst>
              <a:gd name="adj" fmla="val 15018"/>
            </a:avLst>
          </a:prstGeom>
          <a:solidFill>
            <a:srgbClr val="545756">
              <a:alpha val="31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46;p21">
            <a:extLst>
              <a:ext uri="{FF2B5EF4-FFF2-40B4-BE49-F238E27FC236}">
                <a16:creationId xmlns:a16="http://schemas.microsoft.com/office/drawing/2014/main" id="{63DDAF31-BF0E-AB04-998D-53FC5608F1CD}"/>
              </a:ext>
            </a:extLst>
          </p:cNvPr>
          <p:cNvSpPr/>
          <p:nvPr/>
        </p:nvSpPr>
        <p:spPr>
          <a:xfrm>
            <a:off x="6442999" y="1577241"/>
            <a:ext cx="2278322" cy="52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Критерии игры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1" name="Google Shape;376;p38">
            <a:extLst>
              <a:ext uri="{FF2B5EF4-FFF2-40B4-BE49-F238E27FC236}">
                <a16:creationId xmlns:a16="http://schemas.microsoft.com/office/drawing/2014/main" id="{12BBA336-029C-AECD-DB94-1AF7E6D6D258}"/>
              </a:ext>
            </a:extLst>
          </p:cNvPr>
          <p:cNvSpPr/>
          <p:nvPr/>
        </p:nvSpPr>
        <p:spPr>
          <a:xfrm>
            <a:off x="6357257" y="2090077"/>
            <a:ext cx="2539776" cy="579666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46;p21">
            <a:extLst>
              <a:ext uri="{FF2B5EF4-FFF2-40B4-BE49-F238E27FC236}">
                <a16:creationId xmlns:a16="http://schemas.microsoft.com/office/drawing/2014/main" id="{EB02F396-6FEB-EB5E-32DC-9D62E04DA493}"/>
              </a:ext>
            </a:extLst>
          </p:cNvPr>
          <p:cNvSpPr/>
          <p:nvPr/>
        </p:nvSpPr>
        <p:spPr>
          <a:xfrm>
            <a:off x="7097341" y="2797286"/>
            <a:ext cx="1963740" cy="52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Один или несколько игроков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" name="Google Shape;146;p21">
            <a:extLst>
              <a:ext uri="{FF2B5EF4-FFF2-40B4-BE49-F238E27FC236}">
                <a16:creationId xmlns:a16="http://schemas.microsoft.com/office/drawing/2014/main" id="{D2AC1461-9987-0BB4-DFB5-22DFEA430441}"/>
              </a:ext>
            </a:extLst>
          </p:cNvPr>
          <p:cNvSpPr/>
          <p:nvPr/>
        </p:nvSpPr>
        <p:spPr>
          <a:xfrm>
            <a:off x="7133605" y="2129557"/>
            <a:ext cx="1963740" cy="52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Периодические обновления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" name="Google Shape;376;p38">
            <a:extLst>
              <a:ext uri="{FF2B5EF4-FFF2-40B4-BE49-F238E27FC236}">
                <a16:creationId xmlns:a16="http://schemas.microsoft.com/office/drawing/2014/main" id="{82F86673-A678-BD60-23CD-203B87D27541}"/>
              </a:ext>
            </a:extLst>
          </p:cNvPr>
          <p:cNvSpPr/>
          <p:nvPr/>
        </p:nvSpPr>
        <p:spPr>
          <a:xfrm>
            <a:off x="6357257" y="3455391"/>
            <a:ext cx="2568920" cy="581177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46;p21">
            <a:extLst>
              <a:ext uri="{FF2B5EF4-FFF2-40B4-BE49-F238E27FC236}">
                <a16:creationId xmlns:a16="http://schemas.microsoft.com/office/drawing/2014/main" id="{48019095-3027-3AE0-B49B-D4046E76EB65}"/>
              </a:ext>
            </a:extLst>
          </p:cNvPr>
          <p:cNvSpPr/>
          <p:nvPr/>
        </p:nvSpPr>
        <p:spPr>
          <a:xfrm>
            <a:off x="7133605" y="3506951"/>
            <a:ext cx="1887782" cy="52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Онлайн/офлайн игра 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9" name="Рисунок 18" descr="Повторить со сплошной заливкой">
            <a:extLst>
              <a:ext uri="{FF2B5EF4-FFF2-40B4-BE49-F238E27FC236}">
                <a16:creationId xmlns:a16="http://schemas.microsoft.com/office/drawing/2014/main" id="{97B6F165-F21E-08B9-B26E-D7563EBF5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462" y="2146994"/>
            <a:ext cx="448636" cy="448636"/>
          </a:xfrm>
          <a:prstGeom prst="rect">
            <a:avLst/>
          </a:prstGeom>
        </p:spPr>
      </p:pic>
      <p:pic>
        <p:nvPicPr>
          <p:cNvPr id="21" name="Рисунок 20" descr="Пользовательская сеть со сплошной заливкой">
            <a:extLst>
              <a:ext uri="{FF2B5EF4-FFF2-40B4-BE49-F238E27FC236}">
                <a16:creationId xmlns:a16="http://schemas.microsoft.com/office/drawing/2014/main" id="{7465AEB3-72F7-A32F-0E9B-B579AD198F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022" y="2809812"/>
            <a:ext cx="517091" cy="517091"/>
          </a:xfrm>
          <a:prstGeom prst="rect">
            <a:avLst/>
          </a:prstGeom>
        </p:spPr>
      </p:pic>
      <p:pic>
        <p:nvPicPr>
          <p:cNvPr id="24" name="Рисунок 23" descr="Беспроводной маршрутизатор со сплошной заливкой">
            <a:extLst>
              <a:ext uri="{FF2B5EF4-FFF2-40B4-BE49-F238E27FC236}">
                <a16:creationId xmlns:a16="http://schemas.microsoft.com/office/drawing/2014/main" id="{307E6FF3-4A25-2880-082A-30F4EF7BDC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72944" y="3483323"/>
            <a:ext cx="553245" cy="553245"/>
          </a:xfrm>
          <a:prstGeom prst="rect">
            <a:avLst/>
          </a:prstGeom>
        </p:spPr>
      </p:pic>
      <p:sp>
        <p:nvSpPr>
          <p:cNvPr id="6" name="Google Shape;160;p21">
            <a:extLst>
              <a:ext uri="{FF2B5EF4-FFF2-40B4-BE49-F238E27FC236}">
                <a16:creationId xmlns:a16="http://schemas.microsoft.com/office/drawing/2014/main" id="{69F62EC3-D5C1-1BC3-2679-9A15EA6CA089}"/>
              </a:ext>
            </a:extLst>
          </p:cNvPr>
          <p:cNvSpPr txBox="1"/>
          <p:nvPr/>
        </p:nvSpPr>
        <p:spPr>
          <a:xfrm>
            <a:off x="60406" y="4814395"/>
            <a:ext cx="707934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D9DAD5"/>
                </a:solidFill>
              </a:rPr>
              <a:t>*Банк России рассматривает возможность введения плавающих % ставок для неквалов</a:t>
            </a:r>
            <a:endParaRPr sz="1000" dirty="0">
              <a:solidFill>
                <a:srgbClr val="D9DA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15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FAC4-7BA1-FDCD-AB04-F28767ED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1FF16DDD-3E6F-B3F0-AFEF-BDB1E02CB59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4;p21">
            <a:extLst>
              <a:ext uri="{FF2B5EF4-FFF2-40B4-BE49-F238E27FC236}">
                <a16:creationId xmlns:a16="http://schemas.microsoft.com/office/drawing/2014/main" id="{A7DF7E95-8F69-FE04-328A-FD78E6B81B5E}"/>
              </a:ext>
            </a:extLst>
          </p:cNvPr>
          <p:cNvSpPr/>
          <p:nvPr/>
        </p:nvSpPr>
        <p:spPr>
          <a:xfrm>
            <a:off x="412530" y="169276"/>
            <a:ext cx="7084645" cy="42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lang="ru-RU" sz="2400" spc="300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3. ЦФА НА ДОХОД ЭМИТЕНТА</a:t>
            </a:r>
            <a:endParaRPr lang="ru-RU" sz="2400" spc="300"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" name="Google Shape;146;p21">
            <a:extLst>
              <a:ext uri="{FF2B5EF4-FFF2-40B4-BE49-F238E27FC236}">
                <a16:creationId xmlns:a16="http://schemas.microsoft.com/office/drawing/2014/main" id="{F34AF3E2-A545-82DE-E1B3-05347F132C4C}"/>
              </a:ext>
            </a:extLst>
          </p:cNvPr>
          <p:cNvSpPr/>
          <p:nvPr/>
        </p:nvSpPr>
        <p:spPr>
          <a:xfrm>
            <a:off x="6703925" y="709038"/>
            <a:ext cx="2326649" cy="26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" sz="1600" dirty="0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для </a:t>
            </a:r>
            <a:r>
              <a:rPr lang="ru" sz="1600" b="1" dirty="0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Квал. </a:t>
            </a:r>
            <a:r>
              <a:rPr lang="ru" sz="1600" dirty="0">
                <a:solidFill>
                  <a:srgbClr val="EDFF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инвесторов</a:t>
            </a:r>
            <a:endParaRPr sz="1600" dirty="0">
              <a:solidFill>
                <a:srgbClr val="EDFF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Google Shape;148;p21">
            <a:extLst>
              <a:ext uri="{FF2B5EF4-FFF2-40B4-BE49-F238E27FC236}">
                <a16:creationId xmlns:a16="http://schemas.microsoft.com/office/drawing/2014/main" id="{23A095D0-7FAE-4A80-B54D-4F9B386E7544}"/>
              </a:ext>
            </a:extLst>
          </p:cNvPr>
          <p:cNvSpPr txBox="1"/>
          <p:nvPr/>
        </p:nvSpPr>
        <p:spPr>
          <a:xfrm>
            <a:off x="2229691" y="853665"/>
            <a:ext cx="25820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Денежное требование</a:t>
            </a:r>
            <a:endParaRPr dirty="0">
              <a:solidFill>
                <a:srgbClr val="FFFF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14" name="Google Shape;153;p21">
            <a:extLst>
              <a:ext uri="{FF2B5EF4-FFF2-40B4-BE49-F238E27FC236}">
                <a16:creationId xmlns:a16="http://schemas.microsoft.com/office/drawing/2014/main" id="{EB5D41D2-E130-B6F8-2B81-D634AC636C46}"/>
              </a:ext>
            </a:extLst>
          </p:cNvPr>
          <p:cNvCxnSpPr>
            <a:cxnSpLocks/>
          </p:cNvCxnSpPr>
          <p:nvPr/>
        </p:nvCxnSpPr>
        <p:spPr>
          <a:xfrm>
            <a:off x="3358269" y="1199217"/>
            <a:ext cx="0" cy="230265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Google Shape;153;p21">
            <a:extLst>
              <a:ext uri="{FF2B5EF4-FFF2-40B4-BE49-F238E27FC236}">
                <a16:creationId xmlns:a16="http://schemas.microsoft.com/office/drawing/2014/main" id="{747E8141-F561-CCF3-F945-910FFA5FE1B0}"/>
              </a:ext>
            </a:extLst>
          </p:cNvPr>
          <p:cNvCxnSpPr>
            <a:cxnSpLocks/>
          </p:cNvCxnSpPr>
          <p:nvPr/>
        </p:nvCxnSpPr>
        <p:spPr>
          <a:xfrm>
            <a:off x="3430840" y="2824461"/>
            <a:ext cx="0" cy="230265"/>
          </a:xfrm>
          <a:prstGeom prst="straightConnector1">
            <a:avLst/>
          </a:prstGeom>
          <a:ln>
            <a:solidFill>
              <a:srgbClr val="C00000"/>
            </a:solidFill>
            <a:headEnd type="none" w="sm" len="sm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Google Shape;308;p28" descr="preencoded.png">
            <a:extLst>
              <a:ext uri="{FF2B5EF4-FFF2-40B4-BE49-F238E27FC236}">
                <a16:creationId xmlns:a16="http://schemas.microsoft.com/office/drawing/2014/main" id="{B8A63154-1CCC-72C5-FC2D-A80A1D3CD9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2810" y="4239371"/>
            <a:ext cx="8381998" cy="132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09;p28" descr="preencoded.png">
            <a:extLst>
              <a:ext uri="{FF2B5EF4-FFF2-40B4-BE49-F238E27FC236}">
                <a16:creationId xmlns:a16="http://schemas.microsoft.com/office/drawing/2014/main" id="{6FF97A62-DA02-C61B-2BA2-E15DEEA9E4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7396" t="15002"/>
          <a:stretch/>
        </p:blipFill>
        <p:spPr>
          <a:xfrm>
            <a:off x="7353452" y="4438696"/>
            <a:ext cx="1894676" cy="11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DAD2D2CF-0B1C-767F-1B0D-C17407CC3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30"/>
          <a:stretch>
            <a:fillRect/>
          </a:stretch>
        </p:blipFill>
        <p:spPr bwMode="auto">
          <a:xfrm>
            <a:off x="74721" y="2948128"/>
            <a:ext cx="2031599" cy="9874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48;p21">
            <a:extLst>
              <a:ext uri="{FF2B5EF4-FFF2-40B4-BE49-F238E27FC236}">
                <a16:creationId xmlns:a16="http://schemas.microsoft.com/office/drawing/2014/main" id="{70FCB653-AF84-3D7F-F666-78918D6512F3}"/>
              </a:ext>
            </a:extLst>
          </p:cNvPr>
          <p:cNvSpPr txBox="1"/>
          <p:nvPr/>
        </p:nvSpPr>
        <p:spPr>
          <a:xfrm>
            <a:off x="-32206" y="2154840"/>
            <a:ext cx="193956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F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Успехи эмитента становятся нашими успехами</a:t>
            </a:r>
            <a:endParaRPr sz="1200" dirty="0">
              <a:solidFill>
                <a:srgbClr val="FF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57AA112E-9A7A-DE1F-82BE-D339BF9D6A65}"/>
              </a:ext>
            </a:extLst>
          </p:cNvPr>
          <p:cNvCxnSpPr>
            <a:cxnSpLocks/>
            <a:stCxn id="10" idx="1"/>
            <a:endCxn id="4" idx="1"/>
          </p:cNvCxnSpPr>
          <p:nvPr/>
        </p:nvCxnSpPr>
        <p:spPr>
          <a:xfrm rot="10800000" flipH="1" flipV="1">
            <a:off x="1976838" y="2117096"/>
            <a:ext cx="222292" cy="1392072"/>
          </a:xfrm>
          <a:prstGeom prst="curvedConnector3">
            <a:avLst>
              <a:gd name="adj1" fmla="val -102838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996AF7A-14D9-92AC-542B-EB04F5BE99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2013" y="535624"/>
            <a:ext cx="397320" cy="48994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FD1C1DB-BA17-3113-4A33-8D46410AACF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217421" y="552411"/>
            <a:ext cx="489947" cy="489947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8F181B9-750C-1783-C776-AD283524FA57}"/>
              </a:ext>
            </a:extLst>
          </p:cNvPr>
          <p:cNvSpPr/>
          <p:nvPr/>
        </p:nvSpPr>
        <p:spPr>
          <a:xfrm>
            <a:off x="1976838" y="1474938"/>
            <a:ext cx="2913570" cy="1284316"/>
          </a:xfrm>
          <a:prstGeom prst="roundRect">
            <a:avLst>
              <a:gd name="adj" fmla="val 15609"/>
            </a:avLst>
          </a:prstGeom>
          <a:solidFill>
            <a:srgbClr val="EF3123">
              <a:alpha val="22000"/>
            </a:srgbClr>
          </a:solidFill>
          <a:ln>
            <a:solidFill>
              <a:srgbClr val="EF3123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Ждём срока окончания ЦФА </a:t>
            </a:r>
          </a:p>
          <a:p>
            <a:pPr algn="ctr">
              <a:spcBef>
                <a:spcPts val="6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и </a:t>
            </a:r>
          </a:p>
          <a:p>
            <a:pPr algn="ctr">
              <a:spcBef>
                <a:spcPts val="600"/>
              </a:spcBef>
              <a:buClr>
                <a:srgbClr val="FFFFFF"/>
              </a:buClr>
              <a:buSzPts val="1800"/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Следим за успехами эмитента</a:t>
            </a:r>
            <a:endParaRPr lang="ru-RU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" name="Google Shape;371;p38">
            <a:extLst>
              <a:ext uri="{FF2B5EF4-FFF2-40B4-BE49-F238E27FC236}">
                <a16:creationId xmlns:a16="http://schemas.microsoft.com/office/drawing/2014/main" id="{76ACBDCB-61A0-B2F2-4640-7E7ACDE42FA6}"/>
              </a:ext>
            </a:extLst>
          </p:cNvPr>
          <p:cNvSpPr/>
          <p:nvPr/>
        </p:nvSpPr>
        <p:spPr>
          <a:xfrm>
            <a:off x="5659979" y="1346151"/>
            <a:ext cx="3292980" cy="2709002"/>
          </a:xfrm>
          <a:prstGeom prst="roundRect">
            <a:avLst>
              <a:gd name="adj" fmla="val 15018"/>
            </a:avLst>
          </a:prstGeom>
          <a:solidFill>
            <a:srgbClr val="545756">
              <a:alpha val="31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46;p21">
            <a:extLst>
              <a:ext uri="{FF2B5EF4-FFF2-40B4-BE49-F238E27FC236}">
                <a16:creationId xmlns:a16="http://schemas.microsoft.com/office/drawing/2014/main" id="{93811306-E96B-B782-05B1-DBBC7BF4382E}"/>
              </a:ext>
            </a:extLst>
          </p:cNvPr>
          <p:cNvSpPr/>
          <p:nvPr/>
        </p:nvSpPr>
        <p:spPr>
          <a:xfrm>
            <a:off x="5900537" y="1455106"/>
            <a:ext cx="2945918" cy="8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Аналоги -</a:t>
            </a:r>
            <a:r>
              <a:rPr lang="ru-RU" b="1" dirty="0">
                <a:solidFill>
                  <a:srgbClr val="EF3123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привязка к финансовым или количественным показателям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" name="Google Shape;376;p38">
            <a:extLst>
              <a:ext uri="{FF2B5EF4-FFF2-40B4-BE49-F238E27FC236}">
                <a16:creationId xmlns:a16="http://schemas.microsoft.com/office/drawing/2014/main" id="{859C0253-FD44-B12D-71F7-DC9A731988D3}"/>
              </a:ext>
            </a:extLst>
          </p:cNvPr>
          <p:cNvSpPr/>
          <p:nvPr/>
        </p:nvSpPr>
        <p:spPr>
          <a:xfrm>
            <a:off x="5798939" y="2338778"/>
            <a:ext cx="3029988" cy="420476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6;p21">
            <a:extLst>
              <a:ext uri="{FF2B5EF4-FFF2-40B4-BE49-F238E27FC236}">
                <a16:creationId xmlns:a16="http://schemas.microsoft.com/office/drawing/2014/main" id="{087C805A-B96D-D7D9-E276-0541514BD2BF}"/>
              </a:ext>
            </a:extLst>
          </p:cNvPr>
          <p:cNvSpPr/>
          <p:nvPr/>
        </p:nvSpPr>
        <p:spPr>
          <a:xfrm>
            <a:off x="5896961" y="2354435"/>
            <a:ext cx="2540401" cy="3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ЦФА на доход 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5" name="Google Shape;376;p38">
            <a:extLst>
              <a:ext uri="{FF2B5EF4-FFF2-40B4-BE49-F238E27FC236}">
                <a16:creationId xmlns:a16="http://schemas.microsoft.com/office/drawing/2014/main" id="{CAA4E95B-5AEB-C43A-685B-6E5724882D17}"/>
              </a:ext>
            </a:extLst>
          </p:cNvPr>
          <p:cNvSpPr/>
          <p:nvPr/>
        </p:nvSpPr>
        <p:spPr>
          <a:xfrm>
            <a:off x="5798939" y="2819668"/>
            <a:ext cx="3029988" cy="422603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46;p21">
            <a:extLst>
              <a:ext uri="{FF2B5EF4-FFF2-40B4-BE49-F238E27FC236}">
                <a16:creationId xmlns:a16="http://schemas.microsoft.com/office/drawing/2014/main" id="{27AD5F6A-A131-CB85-5588-17D1ED582573}"/>
              </a:ext>
            </a:extLst>
          </p:cNvPr>
          <p:cNvSpPr/>
          <p:nvPr/>
        </p:nvSpPr>
        <p:spPr>
          <a:xfrm>
            <a:off x="5874203" y="2833496"/>
            <a:ext cx="2540401" cy="3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ЦФА на количество игроков 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" name="Google Shape;376;p38">
            <a:extLst>
              <a:ext uri="{FF2B5EF4-FFF2-40B4-BE49-F238E27FC236}">
                <a16:creationId xmlns:a16="http://schemas.microsoft.com/office/drawing/2014/main" id="{8CE0B9DF-38CE-D037-72F5-6AF0AA94E1D1}"/>
              </a:ext>
            </a:extLst>
          </p:cNvPr>
          <p:cNvSpPr/>
          <p:nvPr/>
        </p:nvSpPr>
        <p:spPr>
          <a:xfrm>
            <a:off x="5798939" y="3302685"/>
            <a:ext cx="3029988" cy="664689"/>
          </a:xfrm>
          <a:prstGeom prst="roundRect">
            <a:avLst>
              <a:gd name="adj" fmla="val 35075"/>
            </a:avLst>
          </a:prstGeom>
          <a:solidFill>
            <a:srgbClr val="E7E6E6">
              <a:alpha val="2532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46;p21">
            <a:extLst>
              <a:ext uri="{FF2B5EF4-FFF2-40B4-BE49-F238E27FC236}">
                <a16:creationId xmlns:a16="http://schemas.microsoft.com/office/drawing/2014/main" id="{22BC86A9-75A8-E26E-658C-F207018E05BB}"/>
              </a:ext>
            </a:extLst>
          </p:cNvPr>
          <p:cNvSpPr/>
          <p:nvPr/>
        </p:nvSpPr>
        <p:spPr>
          <a:xfrm>
            <a:off x="5936219" y="3497916"/>
            <a:ext cx="2954724" cy="29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ЦФА на количество скачиваний игры</a:t>
            </a:r>
            <a:endParaRPr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Google Shape;154;p21">
            <a:extLst>
              <a:ext uri="{FF2B5EF4-FFF2-40B4-BE49-F238E27FC236}">
                <a16:creationId xmlns:a16="http://schemas.microsoft.com/office/drawing/2014/main" id="{B9523885-AE2A-0323-AEDB-0B70523BE2A1}"/>
              </a:ext>
            </a:extLst>
          </p:cNvPr>
          <p:cNvSpPr/>
          <p:nvPr/>
        </p:nvSpPr>
        <p:spPr>
          <a:xfrm>
            <a:off x="2199130" y="3101135"/>
            <a:ext cx="2478152" cy="816065"/>
          </a:xfrm>
          <a:prstGeom prst="roundRect">
            <a:avLst>
              <a:gd name="adj" fmla="val 28705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Номинальная стоимость 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+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buClr>
                <a:schemeClr val="lt1"/>
              </a:buClr>
              <a:buSzPts val="1200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Плав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ставка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*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289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F6BCFA8E-F532-38E5-3854-A7E0D9161D3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21;p29">
            <a:extLst>
              <a:ext uri="{FF2B5EF4-FFF2-40B4-BE49-F238E27FC236}">
                <a16:creationId xmlns:a16="http://schemas.microsoft.com/office/drawing/2014/main" id="{1026E6D6-8396-6B39-A9C7-26D95601E8B1}"/>
              </a:ext>
            </a:extLst>
          </p:cNvPr>
          <p:cNvSpPr/>
          <p:nvPr/>
        </p:nvSpPr>
        <p:spPr>
          <a:xfrm>
            <a:off x="248623" y="259342"/>
            <a:ext cx="52245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solidFill>
                  <a:schemeClr val="bg1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Механизм выпуска ЦФА</a:t>
            </a:r>
            <a:endParaRPr sz="28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D6A148-26EC-82D7-4F87-F50588BE2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975" y="1003257"/>
            <a:ext cx="1099217" cy="109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D1C29C-8CFA-E347-C426-6F256FF16533}"/>
              </a:ext>
            </a:extLst>
          </p:cNvPr>
          <p:cNvSpPr txBox="1"/>
          <p:nvPr/>
        </p:nvSpPr>
        <p:spPr>
          <a:xfrm>
            <a:off x="7812472" y="2168069"/>
            <a:ext cx="1248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Эмитент</a:t>
            </a:r>
          </a:p>
        </p:txBody>
      </p:sp>
      <p:sp>
        <p:nvSpPr>
          <p:cNvPr id="9" name="Google Shape;318;p29">
            <a:extLst>
              <a:ext uri="{FF2B5EF4-FFF2-40B4-BE49-F238E27FC236}">
                <a16:creationId xmlns:a16="http://schemas.microsoft.com/office/drawing/2014/main" id="{5B4F2B2F-51B4-5D27-E596-129459595E75}"/>
              </a:ext>
            </a:extLst>
          </p:cNvPr>
          <p:cNvSpPr/>
          <p:nvPr/>
        </p:nvSpPr>
        <p:spPr>
          <a:xfrm>
            <a:off x="3697061" y="1260966"/>
            <a:ext cx="1510535" cy="1018049"/>
          </a:xfrm>
          <a:prstGeom prst="roundRect">
            <a:avLst>
              <a:gd name="adj" fmla="val 30586"/>
            </a:avLst>
          </a:prstGeom>
          <a:solidFill>
            <a:srgbClr val="FF0000">
              <a:alpha val="87843"/>
            </a:srgb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spcFirstLastPara="1" wrap="square" lIns="93675" tIns="46825" rIns="93675" bIns="468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40"/>
              <a:buFont typeface="Calibri"/>
              <a:buNone/>
            </a:pPr>
            <a:r>
              <a:rPr lang="ru-RU" b="1" dirty="0">
                <a:solidFill>
                  <a:schemeClr val="bg1"/>
                </a:solidFill>
                <a:latin typeface="+mn-lt"/>
                <a:ea typeface="Calibri"/>
                <a:cs typeface="Calibri"/>
                <a:sym typeface="Calibri"/>
              </a:rPr>
              <a:t>Платформа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40"/>
              <a:buFont typeface="Calibri"/>
              <a:buNone/>
            </a:pPr>
            <a:r>
              <a:rPr lang="ru-RU" b="1" dirty="0">
                <a:solidFill>
                  <a:schemeClr val="bg1"/>
                </a:solidFill>
                <a:latin typeface="+mn-lt"/>
                <a:ea typeface="Calibri"/>
                <a:cs typeface="Calibri"/>
                <a:sym typeface="Calibri"/>
              </a:rPr>
              <a:t>ЦФА</a:t>
            </a:r>
            <a:endParaRPr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49A3D7-868F-50E5-1065-7C09E53A8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73" y="1166857"/>
            <a:ext cx="972930" cy="97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F72910-F4FE-3F70-8785-F911C27B4623}"/>
              </a:ext>
            </a:extLst>
          </p:cNvPr>
          <p:cNvSpPr txBox="1"/>
          <p:nvPr/>
        </p:nvSpPr>
        <p:spPr>
          <a:xfrm>
            <a:off x="196187" y="2139787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Игроки</a:t>
            </a:r>
          </a:p>
          <a:p>
            <a:pPr algn="ctr"/>
            <a:r>
              <a:rPr lang="ru-RU" b="1" dirty="0">
                <a:solidFill>
                  <a:schemeClr val="bg1"/>
                </a:solidFill>
              </a:rPr>
              <a:t>(инвесторы)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70EC59A-A2AC-AD3F-463E-257162A621AA}"/>
              </a:ext>
            </a:extLst>
          </p:cNvPr>
          <p:cNvCxnSpPr>
            <a:cxnSpLocks/>
          </p:cNvCxnSpPr>
          <p:nvPr/>
        </p:nvCxnSpPr>
        <p:spPr>
          <a:xfrm flipH="1" flipV="1">
            <a:off x="1624814" y="2048763"/>
            <a:ext cx="1889075" cy="4360"/>
          </a:xfrm>
          <a:prstGeom prst="straightConnector1">
            <a:avLst/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38FCD3E9-74F4-F2F1-4493-037E16FE7F2F}"/>
              </a:ext>
            </a:extLst>
          </p:cNvPr>
          <p:cNvCxnSpPr>
            <a:cxnSpLocks/>
          </p:cNvCxnSpPr>
          <p:nvPr/>
        </p:nvCxnSpPr>
        <p:spPr>
          <a:xfrm>
            <a:off x="5343268" y="1552866"/>
            <a:ext cx="1910099" cy="11121"/>
          </a:xfrm>
          <a:prstGeom prst="straightConnector1">
            <a:avLst/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E6952E-F9D8-B43A-48DE-5451E19BA14C}"/>
              </a:ext>
            </a:extLst>
          </p:cNvPr>
          <p:cNvSpPr txBox="1"/>
          <p:nvPr/>
        </p:nvSpPr>
        <p:spPr>
          <a:xfrm>
            <a:off x="5024461" y="920294"/>
            <a:ext cx="2617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2. Получение денежных средств за покупку ЦФА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066CF-5D96-B615-6507-CF69F8651C3A}"/>
              </a:ext>
            </a:extLst>
          </p:cNvPr>
          <p:cNvSpPr txBox="1"/>
          <p:nvPr/>
        </p:nvSpPr>
        <p:spPr>
          <a:xfrm>
            <a:off x="1432840" y="926920"/>
            <a:ext cx="2372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1. Оплата заявки на покупку ЦФА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37122B-A0E2-981F-6F8C-920033ADED61}"/>
              </a:ext>
            </a:extLst>
          </p:cNvPr>
          <p:cNvSpPr txBox="1"/>
          <p:nvPr/>
        </p:nvSpPr>
        <p:spPr>
          <a:xfrm>
            <a:off x="1671700" y="2082011"/>
            <a:ext cx="2087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3. Зачисление ЦФА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C51958-E707-14DA-E423-4CE9712D9369}"/>
              </a:ext>
            </a:extLst>
          </p:cNvPr>
          <p:cNvSpPr txBox="1"/>
          <p:nvPr/>
        </p:nvSpPr>
        <p:spPr>
          <a:xfrm>
            <a:off x="5384899" y="2082011"/>
            <a:ext cx="2087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3. Выпуск ЦФА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1383B2-42F6-B134-91C4-9324350E72D5}"/>
              </a:ext>
            </a:extLst>
          </p:cNvPr>
          <p:cNvSpPr txBox="1"/>
          <p:nvPr/>
        </p:nvSpPr>
        <p:spPr>
          <a:xfrm>
            <a:off x="187851" y="4189476"/>
            <a:ext cx="2784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600" dirty="0">
              <a:solidFill>
                <a:srgbClr val="FF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47A192-8F06-BF90-0CF4-B75723B89299}"/>
              </a:ext>
            </a:extLst>
          </p:cNvPr>
          <p:cNvSpPr txBox="1"/>
          <p:nvPr/>
        </p:nvSpPr>
        <p:spPr>
          <a:xfrm>
            <a:off x="3027165" y="4174391"/>
            <a:ext cx="2839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600" dirty="0">
              <a:solidFill>
                <a:srgbClr val="FFFF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A74289-AB07-5934-FD64-EEFD0928FD7C}"/>
              </a:ext>
            </a:extLst>
          </p:cNvPr>
          <p:cNvSpPr txBox="1"/>
          <p:nvPr/>
        </p:nvSpPr>
        <p:spPr>
          <a:xfrm>
            <a:off x="6091196" y="4225313"/>
            <a:ext cx="287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600" dirty="0">
              <a:solidFill>
                <a:srgbClr val="FFFF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F8A7FF-FEC6-2181-9110-29839E38F4E9}"/>
              </a:ext>
            </a:extLst>
          </p:cNvPr>
          <p:cNvSpPr txBox="1"/>
          <p:nvPr/>
        </p:nvSpPr>
        <p:spPr>
          <a:xfrm>
            <a:off x="1995906" y="2668264"/>
            <a:ext cx="4785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4. Выполнение обязательств эмитента по истечению срока ЦФА</a:t>
            </a:r>
          </a:p>
        </p:txBody>
      </p: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3B5200ED-428A-32C2-A624-64313269C787}"/>
              </a:ext>
            </a:extLst>
          </p:cNvPr>
          <p:cNvCxnSpPr>
            <a:cxnSpLocks/>
            <a:stCxn id="5" idx="2"/>
            <a:endCxn id="10" idx="2"/>
          </p:cNvCxnSpPr>
          <p:nvPr/>
        </p:nvCxnSpPr>
        <p:spPr>
          <a:xfrm rot="5400000">
            <a:off x="4545950" y="-1227745"/>
            <a:ext cx="187161" cy="7594343"/>
          </a:xfrm>
          <a:prstGeom prst="bentConnector3">
            <a:avLst>
              <a:gd name="adj1" fmla="val 274755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35F62D72-8FEB-A706-3895-734C50DE215F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388750" y="3253039"/>
            <a:ext cx="0" cy="761469"/>
          </a:xfrm>
          <a:prstGeom prst="straightConnector1">
            <a:avLst/>
          </a:prstGeom>
          <a:ln w="19050">
            <a:solidFill>
              <a:srgbClr val="EAEBE9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A09F4B0D-AB4F-3081-FF0B-C78674A8C221}"/>
              </a:ext>
            </a:extLst>
          </p:cNvPr>
          <p:cNvCxnSpPr>
            <a:cxnSpLocks/>
          </p:cNvCxnSpPr>
          <p:nvPr/>
        </p:nvCxnSpPr>
        <p:spPr>
          <a:xfrm flipH="1">
            <a:off x="2053964" y="3284868"/>
            <a:ext cx="2087669" cy="758872"/>
          </a:xfrm>
          <a:prstGeom prst="straightConnector1">
            <a:avLst/>
          </a:prstGeom>
          <a:ln w="19050">
            <a:solidFill>
              <a:srgbClr val="EAEBE9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7C6EE002-15AB-CA42-48A2-0DAEEBFC4299}"/>
              </a:ext>
            </a:extLst>
          </p:cNvPr>
          <p:cNvCxnSpPr>
            <a:cxnSpLocks/>
          </p:cNvCxnSpPr>
          <p:nvPr/>
        </p:nvCxnSpPr>
        <p:spPr>
          <a:xfrm>
            <a:off x="4751984" y="3284868"/>
            <a:ext cx="2338052" cy="711956"/>
          </a:xfrm>
          <a:prstGeom prst="straightConnector1">
            <a:avLst/>
          </a:prstGeom>
          <a:ln w="19050">
            <a:solidFill>
              <a:srgbClr val="EAEBE9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44" name="Прямая со стрелкой 1043">
            <a:extLst>
              <a:ext uri="{FF2B5EF4-FFF2-40B4-BE49-F238E27FC236}">
                <a16:creationId xmlns:a16="http://schemas.microsoft.com/office/drawing/2014/main" id="{B6B3CC46-23CE-6FC2-8DF7-ABA9656114A7}"/>
              </a:ext>
            </a:extLst>
          </p:cNvPr>
          <p:cNvCxnSpPr>
            <a:cxnSpLocks/>
          </p:cNvCxnSpPr>
          <p:nvPr/>
        </p:nvCxnSpPr>
        <p:spPr>
          <a:xfrm flipH="1" flipV="1">
            <a:off x="5343268" y="2043679"/>
            <a:ext cx="1889075" cy="4360"/>
          </a:xfrm>
          <a:prstGeom prst="straightConnector1">
            <a:avLst/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45" name="Прямая со стрелкой 1044">
            <a:extLst>
              <a:ext uri="{FF2B5EF4-FFF2-40B4-BE49-F238E27FC236}">
                <a16:creationId xmlns:a16="http://schemas.microsoft.com/office/drawing/2014/main" id="{E1CE57B3-3989-2637-A0EF-E58B0F82DF57}"/>
              </a:ext>
            </a:extLst>
          </p:cNvPr>
          <p:cNvCxnSpPr>
            <a:cxnSpLocks/>
          </p:cNvCxnSpPr>
          <p:nvPr/>
        </p:nvCxnSpPr>
        <p:spPr>
          <a:xfrm>
            <a:off x="1671700" y="1553443"/>
            <a:ext cx="1910099" cy="11121"/>
          </a:xfrm>
          <a:prstGeom prst="straightConnector1">
            <a:avLst/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Google Shape;126;p19">
            <a:extLst>
              <a:ext uri="{FF2B5EF4-FFF2-40B4-BE49-F238E27FC236}">
                <a16:creationId xmlns:a16="http://schemas.microsoft.com/office/drawing/2014/main" id="{DE119656-EA4C-70F2-21C4-4ACE31115B22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8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5B5E9723-984C-0A46-B454-142464238F93}"/>
              </a:ext>
            </a:extLst>
          </p:cNvPr>
          <p:cNvSpPr/>
          <p:nvPr/>
        </p:nvSpPr>
        <p:spPr>
          <a:xfrm>
            <a:off x="89059" y="4161657"/>
            <a:ext cx="2761298" cy="863926"/>
          </a:xfrm>
          <a:prstGeom prst="roundRect">
            <a:avLst>
              <a:gd name="adj" fmla="val 15609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ru-RU" u="sng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ГЦП на скин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: Актив (скин) или фикс. процент дохода + возврат номинала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ACB6219-C279-251E-66EA-9A03F6724C6C}"/>
              </a:ext>
            </a:extLst>
          </p:cNvPr>
          <p:cNvSpPr/>
          <p:nvPr/>
        </p:nvSpPr>
        <p:spPr>
          <a:xfrm>
            <a:off x="2967199" y="4121252"/>
            <a:ext cx="2913570" cy="928375"/>
          </a:xfrm>
          <a:prstGeom prst="roundRect">
            <a:avLst>
              <a:gd name="adj" fmla="val 15609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ru-RU" u="sng" dirty="0" err="1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Fan</a:t>
            </a:r>
            <a:r>
              <a:rPr lang="ru-RU" u="sng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-токен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: эксклюзивные права до погашения + возврат номинала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797E38D9-69B6-CB13-10DF-76050C8FB5C1}"/>
              </a:ext>
            </a:extLst>
          </p:cNvPr>
          <p:cNvSpPr/>
          <p:nvPr/>
        </p:nvSpPr>
        <p:spPr>
          <a:xfrm>
            <a:off x="6002787" y="4113660"/>
            <a:ext cx="2775723" cy="915081"/>
          </a:xfrm>
          <a:prstGeom prst="roundRect">
            <a:avLst>
              <a:gd name="adj" fmla="val 15609"/>
            </a:avLst>
          </a:prstGeom>
          <a:solidFill>
            <a:srgbClr val="FFFFFF">
              <a:alpha val="33725"/>
            </a:srgbClr>
          </a:solidFill>
          <a:ln w="9525" cap="flat" cmpd="sng">
            <a:solidFill>
              <a:srgbClr val="525252"/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ru-RU" u="sng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Долговые ЦФА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Inter"/>
              </a:rPr>
              <a:t>: номинал + процент дохода, привязанный к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184171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"/>
                            </p:stCondLst>
                            <p:childTnLst>
                              <p:par>
                                <p:cTn id="4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6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4" grpId="0"/>
      <p:bldP spid="25" grpId="0"/>
      <p:bldP spid="34" grpId="0"/>
      <p:bldP spid="35" grpId="0"/>
      <p:bldP spid="42" grpId="0"/>
      <p:bldP spid="45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E056BCFC-4C87-539F-7FE3-29CB079C60A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5" name="Соединитель: изогнутый 2224">
            <a:extLst>
              <a:ext uri="{FF2B5EF4-FFF2-40B4-BE49-F238E27FC236}">
                <a16:creationId xmlns:a16="http://schemas.microsoft.com/office/drawing/2014/main" id="{4FD21E84-57BA-EFEE-2F31-A53A3602BB89}"/>
              </a:ext>
            </a:extLst>
          </p:cNvPr>
          <p:cNvCxnSpPr>
            <a:cxnSpLocks/>
            <a:stCxn id="5" idx="0"/>
            <a:endCxn id="10" idx="0"/>
          </p:cNvCxnSpPr>
          <p:nvPr/>
        </p:nvCxnSpPr>
        <p:spPr>
          <a:xfrm rot="5400000" flipH="1" flipV="1">
            <a:off x="1849435" y="-223971"/>
            <a:ext cx="17867" cy="1798356"/>
          </a:xfrm>
          <a:prstGeom prst="curvedConnector3">
            <a:avLst>
              <a:gd name="adj1" fmla="val 1379454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27" name="TextBox 2226">
            <a:extLst>
              <a:ext uri="{FF2B5EF4-FFF2-40B4-BE49-F238E27FC236}">
                <a16:creationId xmlns:a16="http://schemas.microsoft.com/office/drawing/2014/main" id="{74B0292D-1F5D-8FF9-1933-3AC0C13AE813}"/>
              </a:ext>
            </a:extLst>
          </p:cNvPr>
          <p:cNvSpPr txBox="1"/>
          <p:nvPr/>
        </p:nvSpPr>
        <p:spPr>
          <a:xfrm>
            <a:off x="2629407" y="4556134"/>
            <a:ext cx="2169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Купить ЦФА</a:t>
            </a:r>
          </a:p>
        </p:txBody>
      </p:sp>
      <p:cxnSp>
        <p:nvCxnSpPr>
          <p:cNvPr id="2232" name="Соединитель: изогнутый 2231">
            <a:extLst>
              <a:ext uri="{FF2B5EF4-FFF2-40B4-BE49-F238E27FC236}">
                <a16:creationId xmlns:a16="http://schemas.microsoft.com/office/drawing/2014/main" id="{2F2F38B8-F52A-4E1B-A35C-914D7F8CCE2F}"/>
              </a:ext>
            </a:extLst>
          </p:cNvPr>
          <p:cNvCxnSpPr>
            <a:cxnSpLocks/>
            <a:stCxn id="10" idx="2"/>
            <a:endCxn id="8" idx="2"/>
          </p:cNvCxnSpPr>
          <p:nvPr/>
        </p:nvCxnSpPr>
        <p:spPr>
          <a:xfrm rot="16200000" flipH="1">
            <a:off x="3669988" y="3341992"/>
            <a:ext cx="25565" cy="1850448"/>
          </a:xfrm>
          <a:prstGeom prst="curvedConnector3">
            <a:avLst>
              <a:gd name="adj1" fmla="val 994191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37" name="Соединитель: изогнутый 2236">
            <a:extLst>
              <a:ext uri="{FF2B5EF4-FFF2-40B4-BE49-F238E27FC236}">
                <a16:creationId xmlns:a16="http://schemas.microsoft.com/office/drawing/2014/main" id="{A9063CF0-66B1-178A-78CD-3FB310441F79}"/>
              </a:ext>
            </a:extLst>
          </p:cNvPr>
          <p:cNvCxnSpPr>
            <a:cxnSpLocks/>
            <a:stCxn id="16" idx="2"/>
            <a:endCxn id="22" idx="2"/>
          </p:cNvCxnSpPr>
          <p:nvPr/>
        </p:nvCxnSpPr>
        <p:spPr>
          <a:xfrm rot="16200000" flipH="1">
            <a:off x="7343327" y="3415537"/>
            <a:ext cx="8563" cy="1800870"/>
          </a:xfrm>
          <a:prstGeom prst="curvedConnector3">
            <a:avLst>
              <a:gd name="adj1" fmla="val 2769625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41" name="TextBox 2240">
            <a:extLst>
              <a:ext uri="{FF2B5EF4-FFF2-40B4-BE49-F238E27FC236}">
                <a16:creationId xmlns:a16="http://schemas.microsoft.com/office/drawing/2014/main" id="{7100A918-1ECE-CA5C-A855-AD49C6C6CAE4}"/>
              </a:ext>
            </a:extLst>
          </p:cNvPr>
          <p:cNvSpPr txBox="1"/>
          <p:nvPr/>
        </p:nvSpPr>
        <p:spPr>
          <a:xfrm>
            <a:off x="3717649" y="33385"/>
            <a:ext cx="3705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ЦФА появляется в портфеле инвестора</a:t>
            </a:r>
          </a:p>
        </p:txBody>
      </p:sp>
      <p:sp>
        <p:nvSpPr>
          <p:cNvPr id="2242" name="TextBox 2241">
            <a:extLst>
              <a:ext uri="{FF2B5EF4-FFF2-40B4-BE49-F238E27FC236}">
                <a16:creationId xmlns:a16="http://schemas.microsoft.com/office/drawing/2014/main" id="{7C82FF2B-E255-04CF-2DAD-C5E43696D82F}"/>
              </a:ext>
            </a:extLst>
          </p:cNvPr>
          <p:cNvSpPr txBox="1"/>
          <p:nvPr/>
        </p:nvSpPr>
        <p:spPr>
          <a:xfrm>
            <a:off x="5331045" y="4530109"/>
            <a:ext cx="359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Через</a:t>
            </a:r>
            <a:r>
              <a:rPr lang="en-US" dirty="0">
                <a:solidFill>
                  <a:schemeClr val="bg1"/>
                </a:solidFill>
              </a:rPr>
              <a:t> API </a:t>
            </a:r>
            <a:r>
              <a:rPr lang="ru-RU" dirty="0">
                <a:solidFill>
                  <a:schemeClr val="bg1"/>
                </a:solidFill>
              </a:rPr>
              <a:t>продукт резервируется в личном кабинете</a:t>
            </a:r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D9975D43-0ADD-A8CC-E8BD-A1399986C1B7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9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0C3FCF-1A66-3E83-EF6A-ACE848A4A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6" t="692" r="5968" b="1"/>
          <a:stretch>
            <a:fillRect/>
          </a:stretch>
        </p:blipFill>
        <p:spPr>
          <a:xfrm>
            <a:off x="69903" y="684140"/>
            <a:ext cx="1778573" cy="35524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D1AF6D-381E-8D94-54BB-62886A855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" r="3240" b="1249"/>
          <a:stretch>
            <a:fillRect/>
          </a:stretch>
        </p:blipFill>
        <p:spPr>
          <a:xfrm>
            <a:off x="3714350" y="682325"/>
            <a:ext cx="1787288" cy="35976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AA1AA3F-5A5C-DDB0-1980-0AD0D72B2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215" y="653822"/>
            <a:ext cx="1837915" cy="36578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8D59A0F-358D-A245-A809-268E098B5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085" y="662386"/>
            <a:ext cx="1791915" cy="36578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03229D-FBC0-8A76-D08D-41B450A869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2385" y="666273"/>
            <a:ext cx="1750322" cy="3588161"/>
          </a:xfrm>
          <a:prstGeom prst="rect">
            <a:avLst/>
          </a:prstGeom>
        </p:spPr>
      </p:pic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7D0EA6CF-7F55-057B-6227-E327FE4FEF14}"/>
              </a:ext>
            </a:extLst>
          </p:cNvPr>
          <p:cNvCxnSpPr>
            <a:cxnSpLocks/>
            <a:stCxn id="8" idx="0"/>
            <a:endCxn id="16" idx="0"/>
          </p:cNvCxnSpPr>
          <p:nvPr/>
        </p:nvCxnSpPr>
        <p:spPr>
          <a:xfrm rot="5400000" flipH="1" flipV="1">
            <a:off x="5513332" y="-251515"/>
            <a:ext cx="28503" cy="1839179"/>
          </a:xfrm>
          <a:prstGeom prst="curvedConnector3">
            <a:avLst>
              <a:gd name="adj1" fmla="val 902021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8102D9-36F3-6291-44E8-A49FA1CFA789}"/>
              </a:ext>
            </a:extLst>
          </p:cNvPr>
          <p:cNvSpPr txBox="1"/>
          <p:nvPr/>
        </p:nvSpPr>
        <p:spPr>
          <a:xfrm>
            <a:off x="753674" y="73741"/>
            <a:ext cx="2189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Перейти в А-Токен</a:t>
            </a:r>
          </a:p>
        </p:txBody>
      </p:sp>
    </p:spTree>
    <p:extLst>
      <p:ext uri="{BB962C8B-B14F-4D97-AF65-F5344CB8AC3E}">
        <p14:creationId xmlns:p14="http://schemas.microsoft.com/office/powerpoint/2010/main" val="307977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7" grpId="0"/>
      <p:bldP spid="2241" grpId="0"/>
      <p:bldP spid="224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7FD5C5BA-7428-29C0-2B4B-B5BF6C33045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14FE1A2-E7DE-86A6-26B3-23C51D1C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81" y="521685"/>
            <a:ext cx="1947686" cy="3858059"/>
          </a:xfrm>
          <a:prstGeom prst="rect">
            <a:avLst/>
          </a:prstGeom>
        </p:spPr>
      </p:pic>
      <p:cxnSp>
        <p:nvCxnSpPr>
          <p:cNvPr id="86" name="Соединитель: изогнутый 85">
            <a:extLst>
              <a:ext uri="{FF2B5EF4-FFF2-40B4-BE49-F238E27FC236}">
                <a16:creationId xmlns:a16="http://schemas.microsoft.com/office/drawing/2014/main" id="{E763F2C2-E445-1665-AF1A-2ED91DD204F4}"/>
              </a:ext>
            </a:extLst>
          </p:cNvPr>
          <p:cNvCxnSpPr>
            <a:cxnSpLocks/>
            <a:stCxn id="34" idx="0"/>
            <a:endCxn id="15" idx="0"/>
          </p:cNvCxnSpPr>
          <p:nvPr/>
        </p:nvCxnSpPr>
        <p:spPr>
          <a:xfrm rot="5400000" flipH="1" flipV="1">
            <a:off x="2939761" y="-944196"/>
            <a:ext cx="23044" cy="2908718"/>
          </a:xfrm>
          <a:prstGeom prst="curvedConnector3">
            <a:avLst>
              <a:gd name="adj1" fmla="val 1092015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9" name="Соединитель: изогнутый 88">
            <a:extLst>
              <a:ext uri="{FF2B5EF4-FFF2-40B4-BE49-F238E27FC236}">
                <a16:creationId xmlns:a16="http://schemas.microsoft.com/office/drawing/2014/main" id="{3F9D7061-6B18-E465-201B-4C7F01E6C83E}"/>
              </a:ext>
            </a:extLst>
          </p:cNvPr>
          <p:cNvCxnSpPr>
            <a:cxnSpLocks/>
            <a:stCxn id="15" idx="2"/>
            <a:endCxn id="21" idx="2"/>
          </p:cNvCxnSpPr>
          <p:nvPr/>
        </p:nvCxnSpPr>
        <p:spPr>
          <a:xfrm rot="5400000" flipH="1" flipV="1">
            <a:off x="5803173" y="3002838"/>
            <a:ext cx="2417" cy="2797480"/>
          </a:xfrm>
          <a:prstGeom prst="curvedConnector3">
            <a:avLst>
              <a:gd name="adj1" fmla="val -9458006"/>
            </a:avLst>
          </a:prstGeom>
          <a:ln w="41275">
            <a:solidFill>
              <a:srgbClr val="92D050"/>
            </a:solidFill>
            <a:tailEnd type="stealth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A4F462-917B-AA1F-D716-1F502AF81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799" y="498641"/>
            <a:ext cx="1947686" cy="390414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1D42CBB-CF76-2F38-938F-511028C21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476" y="450200"/>
            <a:ext cx="2037291" cy="3950169"/>
          </a:xfrm>
          <a:prstGeom prst="rect">
            <a:avLst/>
          </a:prstGeom>
        </p:spPr>
      </p:pic>
      <p:sp>
        <p:nvSpPr>
          <p:cNvPr id="24" name="Google Shape;126;p19">
            <a:extLst>
              <a:ext uri="{FF2B5EF4-FFF2-40B4-BE49-F238E27FC236}">
                <a16:creationId xmlns:a16="http://schemas.microsoft.com/office/drawing/2014/main" id="{BC092751-AE0D-AA9C-097F-506D41DAF13E}"/>
              </a:ext>
            </a:extLst>
          </p:cNvPr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10</a:t>
            </a:r>
            <a:endParaRPr sz="90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0696C-D6FE-613C-45A2-3AEB7E26542D}"/>
              </a:ext>
            </a:extLst>
          </p:cNvPr>
          <p:cNvSpPr txBox="1"/>
          <p:nvPr/>
        </p:nvSpPr>
        <p:spPr>
          <a:xfrm>
            <a:off x="2059576" y="0"/>
            <a:ext cx="1867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Выбрать вид актива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102EB-908F-4C38-0F9A-3A7D66AD575D}"/>
              </a:ext>
            </a:extLst>
          </p:cNvPr>
          <p:cNvSpPr txBox="1"/>
          <p:nvPr/>
        </p:nvSpPr>
        <p:spPr>
          <a:xfrm>
            <a:off x="4486139" y="4620280"/>
            <a:ext cx="2794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Отображение актива через </a:t>
            </a:r>
            <a:r>
              <a:rPr lang="en-US" dirty="0">
                <a:solidFill>
                  <a:schemeClr val="bg1"/>
                </a:solidFill>
              </a:rPr>
              <a:t>API</a:t>
            </a:r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торговой площадке</a:t>
            </a:r>
          </a:p>
        </p:txBody>
      </p:sp>
    </p:spTree>
    <p:extLst>
      <p:ext uri="{BB962C8B-B14F-4D97-AF65-F5344CB8AC3E}">
        <p14:creationId xmlns:p14="http://schemas.microsoft.com/office/powerpoint/2010/main" val="227772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8;p17" descr="C:\Users\takta\OneDrive\Рабочий стол\Rectangle 1.png">
            <a:extLst>
              <a:ext uri="{FF2B5EF4-FFF2-40B4-BE49-F238E27FC236}">
                <a16:creationId xmlns:a16="http://schemas.microsoft.com/office/drawing/2014/main" id="{C06679DF-2B47-F908-338C-5FD87BDD512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 l="915" t="1302" r="915" b="162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3"/>
          <p:cNvSpPr/>
          <p:nvPr/>
        </p:nvSpPr>
        <p:spPr>
          <a:xfrm>
            <a:off x="1361215" y="1797228"/>
            <a:ext cx="3005138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6267288" y="2093590"/>
            <a:ext cx="300513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5638800" y="4076700"/>
            <a:ext cx="329088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1361215" y="2068690"/>
            <a:ext cx="3005138" cy="52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6261616" y="738755"/>
            <a:ext cx="300513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303940" y="192703"/>
            <a:ext cx="451961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lang="ru" sz="2800" b="1" dirty="0">
                <a:solidFill>
                  <a:srgbClr val="FFFFFF"/>
                </a:solidFill>
                <a:latin typeface="+mj-lt"/>
                <a:ea typeface="Inter"/>
                <a:cs typeface="Inter"/>
                <a:sym typeface="Inter"/>
              </a:rPr>
              <a:t>Выгоды</a:t>
            </a:r>
            <a:endParaRPr sz="28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1475515" y="2068690"/>
            <a:ext cx="3348038" cy="52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69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7948335" y="4852988"/>
            <a:ext cx="10953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96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1"/>
              <a:buFont typeface="Inter"/>
              <a:buNone/>
            </a:pPr>
            <a:r>
              <a:rPr lang="ru" sz="90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90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4C60679-1B7E-6D27-AA90-92FC8C2A9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042508"/>
              </p:ext>
            </p:extLst>
          </p:nvPr>
        </p:nvGraphicFramePr>
        <p:xfrm>
          <a:off x="148590" y="627291"/>
          <a:ext cx="8846820" cy="4169391"/>
        </p:xfrm>
        <a:graphic>
          <a:graphicData uri="http://schemas.openxmlformats.org/drawingml/2006/table">
            <a:tbl>
              <a:tblPr firstRow="1" bandRow="1">
                <a:tableStyleId>{A75FAE7C-6979-466C-B229-4D571517AF85}</a:tableStyleId>
              </a:tblPr>
              <a:tblGrid>
                <a:gridCol w="1096411">
                  <a:extLst>
                    <a:ext uri="{9D8B030D-6E8A-4147-A177-3AD203B41FA5}">
                      <a16:colId xmlns:a16="http://schemas.microsoft.com/office/drawing/2014/main" val="3392828711"/>
                    </a:ext>
                  </a:extLst>
                </a:gridCol>
                <a:gridCol w="2711979">
                  <a:extLst>
                    <a:ext uri="{9D8B030D-6E8A-4147-A177-3AD203B41FA5}">
                      <a16:colId xmlns:a16="http://schemas.microsoft.com/office/drawing/2014/main" val="3778423346"/>
                    </a:ext>
                  </a:extLst>
                </a:gridCol>
                <a:gridCol w="2657200">
                  <a:extLst>
                    <a:ext uri="{9D8B030D-6E8A-4147-A177-3AD203B41FA5}">
                      <a16:colId xmlns:a16="http://schemas.microsoft.com/office/drawing/2014/main" val="941312926"/>
                    </a:ext>
                  </a:extLst>
                </a:gridCol>
                <a:gridCol w="2381230">
                  <a:extLst>
                    <a:ext uri="{9D8B030D-6E8A-4147-A177-3AD203B41FA5}">
                      <a16:colId xmlns:a16="http://schemas.microsoft.com/office/drawing/2014/main" val="3568606538"/>
                    </a:ext>
                  </a:extLst>
                </a:gridCol>
              </a:tblGrid>
              <a:tr h="358842">
                <a:tc>
                  <a:txBody>
                    <a:bodyPr/>
                    <a:lstStyle/>
                    <a:p>
                      <a:endParaRPr lang="ru-RU" sz="15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Aft>
                          <a:spcPts val="1200"/>
                        </a:spcAft>
                      </a:pPr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Для эмитента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Aft>
                          <a:spcPts val="1200"/>
                        </a:spcAft>
                      </a:pPr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Для инвестора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Aft>
                          <a:spcPts val="1200"/>
                        </a:spcAft>
                      </a:pPr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Для страны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6573"/>
                  </a:ext>
                </a:extLst>
              </a:tr>
              <a:tr h="1469539"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1. ЦФА на скины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latin typeface="+mn-lt"/>
                        </a:rPr>
                        <a:t>Новый канал дистрибьюции товара</a:t>
                      </a:r>
                    </a:p>
                    <a:p>
                      <a:pPr marL="182563" indent="-182563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latin typeface="+mn-lt"/>
                        </a:rPr>
                        <a:t>Повышение привлекательности продукта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Покупка уникальных предметов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Гарантированный доход выше депозитов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266700" marR="0" indent="-1746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cap="none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266700" marR="0" indent="-1746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Увеличение участников рынка ЦФА с 500 тыс. до 17 млн человек</a:t>
                      </a:r>
                    </a:p>
                    <a:p>
                      <a:pPr marL="266700" marR="0" indent="-1746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Привлечение ликвидности на рынок ЦФА</a:t>
                      </a:r>
                    </a:p>
                    <a:p>
                      <a:pPr marL="266700" marR="0" indent="-1746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Повышение финансовой грамотности</a:t>
                      </a:r>
                    </a:p>
                    <a:p>
                      <a:pPr marL="266700" marR="0" indent="-1746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Развитие индустрии видеоигр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494273"/>
                  </a:ext>
                </a:extLst>
              </a:tr>
              <a:tr h="1298662"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2.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  <a:latin typeface="+mn-lt"/>
                        </a:rPr>
                        <a:t>Fan-</a:t>
                      </a:r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токен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Взаимодействие с аудиторией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Вовлеченность игроков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Лояльность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latin typeface="+mn-lt"/>
                        </a:rPr>
                        <a:t>клиентов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Эксклюзивный доступ</a:t>
                      </a:r>
                    </a:p>
                    <a:p>
                      <a:pPr marL="182563" marR="0" lvl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Влияние на разработку игры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Возможност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latin typeface="+mn-lt"/>
                        </a:rPr>
                        <a:t>ь голосовать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15493"/>
                  </a:ext>
                </a:extLst>
              </a:tr>
              <a:tr h="1042348">
                <a:tc>
                  <a:txBody>
                    <a:bodyPr/>
                    <a:lstStyle/>
                    <a:p>
                      <a:r>
                        <a:rPr lang="ru-RU" sz="1500" dirty="0">
                          <a:solidFill>
                            <a:schemeClr val="bg1"/>
                          </a:solidFill>
                          <a:latin typeface="+mn-lt"/>
                        </a:rPr>
                        <a:t>3. ЦФА на доход эмитента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Возможность развития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Запуск новых проектов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Расширение компании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Дополнительный доход 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200000"/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/>
                          <a:sym typeface="Arial"/>
                        </a:rPr>
                        <a:t>Инвестирование в отрасль гейминга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758465"/>
                  </a:ext>
                </a:extLst>
              </a:tr>
            </a:tbl>
          </a:graphicData>
        </a:graphic>
      </p:graphicFrame>
      <p:pic>
        <p:nvPicPr>
          <p:cNvPr id="4" name="Google Shape;143;p21" descr="preencoded.png">
            <a:extLst>
              <a:ext uri="{FF2B5EF4-FFF2-40B4-BE49-F238E27FC236}">
                <a16:creationId xmlns:a16="http://schemas.microsoft.com/office/drawing/2014/main" id="{B5BE2FEC-A31C-D221-65B0-91148CC496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548268">
            <a:off x="7505860" y="3317500"/>
            <a:ext cx="2142842" cy="233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/>
          <p:nvPr/>
        </p:nvSpPr>
        <p:spPr>
          <a:xfrm>
            <a:off x="2366963" y="1143000"/>
            <a:ext cx="1587900" cy="28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5227086" y="1143000"/>
            <a:ext cx="1587900" cy="28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5227086" y="2877636"/>
            <a:ext cx="15879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541792"/>
            <a:ext cx="8381998" cy="132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2424" y="4541792"/>
            <a:ext cx="1244426" cy="132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4374" y="1792509"/>
            <a:ext cx="2878050" cy="265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искусство, шаблон, Симметр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96534D-FB98-92E7-307D-5ADBCFF572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5300" y="-162842"/>
            <a:ext cx="4437627" cy="3413336"/>
          </a:xfrm>
          <a:prstGeom prst="rect">
            <a:avLst/>
          </a:prstGeom>
        </p:spPr>
      </p:pic>
      <p:sp>
        <p:nvSpPr>
          <p:cNvPr id="4" name="Google Shape;445;p34">
            <a:extLst>
              <a:ext uri="{FF2B5EF4-FFF2-40B4-BE49-F238E27FC236}">
                <a16:creationId xmlns:a16="http://schemas.microsoft.com/office/drawing/2014/main" id="{9A3BB114-C315-285C-7412-CBCB99E8ABD0}"/>
              </a:ext>
            </a:extLst>
          </p:cNvPr>
          <p:cNvSpPr/>
          <p:nvPr/>
        </p:nvSpPr>
        <p:spPr>
          <a:xfrm>
            <a:off x="203982" y="1508831"/>
            <a:ext cx="4304713" cy="100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ru" sz="24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ru" sz="24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Из игроков в инвесторы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ru" sz="24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в игровой форме!</a:t>
            </a: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5061D2-DD8B-E5A3-7404-45FBDDD039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47" t="10797" r="24740" b="56368"/>
          <a:stretch>
            <a:fillRect/>
          </a:stretch>
        </p:blipFill>
        <p:spPr>
          <a:xfrm>
            <a:off x="1835709" y="787702"/>
            <a:ext cx="1965600" cy="1965600"/>
          </a:xfrm>
          <a:prstGeom prst="ellipse">
            <a:avLst/>
          </a:prstGeom>
        </p:spPr>
      </p:pic>
      <p:sp>
        <p:nvSpPr>
          <p:cNvPr id="438" name="Google Shape;438;p34"/>
          <p:cNvSpPr/>
          <p:nvPr/>
        </p:nvSpPr>
        <p:spPr>
          <a:xfrm>
            <a:off x="2366963" y="1143000"/>
            <a:ext cx="1588047" cy="280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5227086" y="1143000"/>
            <a:ext cx="1588047" cy="280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5227086" y="2877636"/>
            <a:ext cx="1588047" cy="107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2366963" y="2877636"/>
            <a:ext cx="1588047" cy="107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3337" y="4038600"/>
            <a:ext cx="8382000" cy="132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9087" y="4038600"/>
            <a:ext cx="1244426" cy="132810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4"/>
          <p:cNvSpPr/>
          <p:nvPr/>
        </p:nvSpPr>
        <p:spPr>
          <a:xfrm>
            <a:off x="2002267" y="196832"/>
            <a:ext cx="5271476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ru" sz="24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Команда “Финтех в кокошнике” </a:t>
            </a: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1821415" y="2929722"/>
            <a:ext cx="2045247" cy="20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8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Горошко Юлия</a:t>
            </a:r>
            <a:endParaRPr sz="18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2464657" y="3151034"/>
            <a:ext cx="4346696" cy="1021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200"/>
              <a:buFont typeface="Inter"/>
              <a:buNone/>
            </a:pPr>
            <a:r>
              <a:rPr lang="ru" sz="1600" dirty="0">
                <a:solidFill>
                  <a:srgbClr val="BCC0C5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Магистры 2 курс</a:t>
            </a:r>
            <a:endParaRPr sz="1600" dirty="0">
              <a:solidFill>
                <a:srgbClr val="BCC0C5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200"/>
              <a:buFont typeface="Inter"/>
              <a:buNone/>
            </a:pPr>
            <a:r>
              <a:rPr lang="ru" sz="1600" dirty="0">
                <a:solidFill>
                  <a:srgbClr val="BCC0C5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НИУ ВШЭ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200"/>
              <a:buFont typeface="Inter"/>
              <a:buNone/>
            </a:pPr>
            <a:r>
              <a:rPr lang="ru" sz="1600" dirty="0">
                <a:solidFill>
                  <a:srgbClr val="BCC0C5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Экономика и экономическая политика</a:t>
            </a:r>
            <a:endParaRPr sz="1600" dirty="0">
              <a:solidFill>
                <a:srgbClr val="BCC0C5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5435259" y="2929722"/>
            <a:ext cx="2045247" cy="20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ru" sz="1800" b="1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Мацур Алина</a:t>
            </a:r>
            <a:endParaRPr sz="18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450" name="Google Shape;450;p34"/>
          <p:cNvPicPr preferRelativeResize="0"/>
          <p:nvPr/>
        </p:nvPicPr>
        <p:blipFill rotWithShape="1">
          <a:blip r:embed="rId6">
            <a:alphaModFix/>
          </a:blip>
          <a:srcRect l="-149" t="11294" b="19233"/>
          <a:stretch/>
        </p:blipFill>
        <p:spPr>
          <a:xfrm>
            <a:off x="5510271" y="745936"/>
            <a:ext cx="1965600" cy="1966398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538</Words>
  <Application>Microsoft Office PowerPoint</Application>
  <PresentationFormat>Экран (16:9)</PresentationFormat>
  <Paragraphs>152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Inter</vt:lpstr>
      <vt:lpstr>Montserrat</vt:lpstr>
      <vt:lpstr>Verdana</vt:lpstr>
      <vt:lpstr>Calibri</vt:lpstr>
      <vt:lpstr>Arial</vt:lpstr>
      <vt:lpstr>Simple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Юлия Горошко</dc:creator>
  <cp:lastModifiedBy>Мацур Алина Владимировна</cp:lastModifiedBy>
  <cp:revision>30</cp:revision>
  <dcterms:modified xsi:type="dcterms:W3CDTF">2025-10-09T19:28:13Z</dcterms:modified>
</cp:coreProperties>
</file>