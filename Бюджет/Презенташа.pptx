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96" r:id="rId2"/>
    <p:sldId id="402" r:id="rId3"/>
    <p:sldId id="403" r:id="rId4"/>
    <p:sldId id="399" r:id="rId5"/>
    <p:sldId id="400" r:id="rId6"/>
    <p:sldId id="383" r:id="rId7"/>
    <p:sldId id="35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8C"/>
    <a:srgbClr val="005B78"/>
    <a:srgbClr val="848484"/>
    <a:srgbClr val="FEEAD7"/>
    <a:srgbClr val="FDD5A9"/>
    <a:srgbClr val="3C7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76"/>
    <p:restoredTop sz="94658"/>
  </p:normalViewPr>
  <p:slideViewPr>
    <p:cSldViewPr snapToGrid="0">
      <p:cViewPr>
        <p:scale>
          <a:sx n="145" d="100"/>
          <a:sy n="145" d="100"/>
        </p:scale>
        <p:origin x="-24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68394580376641"/>
          <c:y val="8.0341074218868755E-2"/>
          <c:w val="0.82276532902107125"/>
          <c:h val="0.77396137967933953"/>
        </c:manualLayout>
      </c:layout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A50-DB4A-9160-FC966126F535}"/>
                </c:ext>
              </c:extLst>
            </c:dLbl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50-DB4A-9160-FC966126F5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005B78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1'!$E$6:$I$6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'Задание 1'!$E$13:$I$13</c:f>
              <c:numCache>
                <c:formatCode>#\ ##0.00_ ;\-#\ ##0.00\ </c:formatCode>
                <c:ptCount val="5"/>
                <c:pt idx="0">
                  <c:v>99293195900</c:v>
                </c:pt>
                <c:pt idx="1">
                  <c:v>107030146700</c:v>
                </c:pt>
                <c:pt idx="2">
                  <c:v>107141158600</c:v>
                </c:pt>
                <c:pt idx="3">
                  <c:v>126339515200</c:v>
                </c:pt>
                <c:pt idx="4">
                  <c:v>153029586000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50-DB4A-9160-FC966126F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837408"/>
        <c:axId val="1541839120"/>
      </c:lineChart>
      <c:catAx>
        <c:axId val="1541837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541839120"/>
        <c:crosses val="autoZero"/>
        <c:auto val="1"/>
        <c:lblAlgn val="ctr"/>
        <c:lblOffset val="100"/>
        <c:noMultiLvlLbl val="0"/>
      </c:catAx>
      <c:valAx>
        <c:axId val="1541839120"/>
        <c:scaling>
          <c:orientation val="minMax"/>
          <c:min val="80000000000"/>
        </c:scaling>
        <c:delete val="0"/>
        <c:axPos val="l"/>
        <c:majorGridlines>
          <c:spPr>
            <a:ln w="6350" cap="rnd" cmpd="dbl" algn="ctr">
              <a:solidFill>
                <a:schemeClr val="bg2">
                  <a:lumMod val="90000"/>
                </a:schemeClr>
              </a:solidFill>
              <a:bevel/>
            </a:ln>
            <a:effectLst/>
          </c:spPr>
        </c:majorGridlines>
        <c:numFmt formatCode="#\ ##0.00_ ;\-#\ ##0.0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541837408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1.5056666019436404E-2"/>
                <c:y val="0.25462962962962965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5B78"/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ru-RU" dirty="0">
                      <a:solidFill>
                        <a:srgbClr val="005B78"/>
                      </a:solidFill>
                    </a:rPr>
                    <a:t>Млн</a:t>
                  </a:r>
                  <a:r>
                    <a:rPr lang="ru-RU" baseline="0" dirty="0">
                      <a:solidFill>
                        <a:srgbClr val="005B78"/>
                      </a:solidFill>
                    </a:rPr>
                    <a:t> руб.</a:t>
                  </a:r>
                  <a:endParaRPr lang="ru-RU" dirty="0">
                    <a:solidFill>
                      <a:srgbClr val="005B78"/>
                    </a:solidFill>
                  </a:endParaRP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5B78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FB88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88-8D4E-BD64-776CEAC48D4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88-8D4E-BD64-776CEAC48D42}"/>
              </c:ext>
            </c:extLst>
          </c:dPt>
          <c:dPt>
            <c:idx val="2"/>
            <c:bubble3D val="0"/>
            <c:spPr>
              <a:solidFill>
                <a:srgbClr val="3C707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88-8D4E-BD64-776CEAC48D42}"/>
              </c:ext>
            </c:extLst>
          </c:dPt>
          <c:dPt>
            <c:idx val="3"/>
            <c:bubble3D val="0"/>
            <c:spPr>
              <a:solidFill>
                <a:srgbClr val="FDD5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888-8D4E-BD64-776CEAC48D42}"/>
              </c:ext>
            </c:extLst>
          </c:dPt>
          <c:dPt>
            <c:idx val="4"/>
            <c:bubble3D val="0"/>
            <c:spPr>
              <a:solidFill>
                <a:srgbClr val="005B7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888-8D4E-BD64-776CEAC48D42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88-8D4E-BD64-776CEAC48D4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88-8D4E-BD64-776CEAC48D4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88-8D4E-BD64-776CEAC48D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('Задание 1'!$A$17,'Задание 1'!$A$22,'Задание 1'!$A$24,'Задание 1'!$A$29,'Задание 1'!$A$31)</c:f>
              <c:strCache>
                <c:ptCount val="5"/>
                <c:pt idx="0">
                  <c:v>
Национальная безопасность и правоохранительная деятельность</c:v>
                </c:pt>
                <c:pt idx="1">
                  <c:v>
Жилищно-коммунальное хозяйство</c:v>
                </c:pt>
                <c:pt idx="2">
                  <c:v>
Образование</c:v>
                </c:pt>
                <c:pt idx="3">
                  <c:v>
Здравоохранение</c:v>
                </c:pt>
                <c:pt idx="4">
                  <c:v>
Социальная политика</c:v>
                </c:pt>
              </c:strCache>
            </c:strRef>
          </c:cat>
          <c:val>
            <c:numRef>
              <c:f>('Задание 1'!$F$17,'Задание 1'!$F$22,'Задание 1'!$F$24,'Задание 1'!$F$29,'Задание 1'!$F$31)</c:f>
              <c:numCache>
                <c:formatCode>General</c:formatCode>
                <c:ptCount val="5"/>
                <c:pt idx="0">
                  <c:v>0.82022522115778074</c:v>
                </c:pt>
                <c:pt idx="1">
                  <c:v>5.8979858269916415E-3</c:v>
                </c:pt>
                <c:pt idx="2">
                  <c:v>1.2201337334140784E-2</c:v>
                </c:pt>
                <c:pt idx="3">
                  <c:v>1.3750418740566348E-2</c:v>
                </c:pt>
                <c:pt idx="4">
                  <c:v>0.14792503694052048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888-8D4E-BD64-776CEAC48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727974890971114"/>
          <c:y val="0.13383841226329216"/>
          <c:w val="0.40018909898558597"/>
          <c:h val="0.81140417578643564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Segoe UI Symbol" panose="020B0502040204020203" pitchFamily="34" charset="0"/>
          <a:ea typeface="Segoe UI Symbol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25286896404462"/>
          <c:y val="7.5562778602430686E-2"/>
          <c:w val="0.84025606901544792"/>
          <c:h val="0.514442307718345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'[Мацур_Бюджет.xlsx]Задание 2'!$A$5</c:f>
              <c:strCache>
                <c:ptCount val="1"/>
                <c:pt idx="0">
                  <c:v>
Акцизы на спиртосодержащую продукцию, ввозимую на территорию Российской Федерации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FFB88C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'[Мацур_Бюджет.xlsx]Задание 2'!$D$4:$F$4</c:f>
              <c:numCache>
                <c:formatCode>@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'[Мацур_Бюджет.xlsx]Задание 2'!$D$5:$F$5</c:f>
              <c:numCache>
                <c:formatCode>0.00</c:formatCode>
                <c:ptCount val="3"/>
                <c:pt idx="0">
                  <c:v>1135.09516018</c:v>
                </c:pt>
                <c:pt idx="1">
                  <c:v>1041.39164643</c:v>
                </c:pt>
                <c:pt idx="2">
                  <c:v>982.88443390999998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4-4A44-B6F8-3CFCB5DBE081}"/>
            </c:ext>
          </c:extLst>
        </c:ser>
        <c:ser>
          <c:idx val="1"/>
          <c:order val="1"/>
          <c:tx>
            <c:strRef>
              <c:f>'[Мацур_Бюджет.xlsx]Задание 2'!$A$6</c:f>
              <c:strCache>
                <c:ptCount val="1"/>
                <c:pt idx="0">
                  <c:v>
Акцизы на спиртосодержащую продукцию, ввозимую на территорию Российской Федерации (сумма платежа (перерасчеты, недоимка и задолженность по соответствующему платежу, в том числе по отмененному)</c:v>
                </c:pt>
              </c:strCache>
            </c:strRef>
          </c:tx>
          <c:spPr>
            <a:solidFill>
              <a:srgbClr val="FFB8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'[Мацур_Бюджет.xlsx]Задание 2'!$D$4:$F$4</c:f>
              <c:numCache>
                <c:formatCode>@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'[Мацур_Бюджет.xlsx]Задание 2'!$D$6:$F$6</c:f>
              <c:numCache>
                <c:formatCode>0.00</c:formatCode>
                <c:ptCount val="3"/>
                <c:pt idx="0">
                  <c:v>1129.57715809</c:v>
                </c:pt>
                <c:pt idx="1">
                  <c:v>1033.7746657299999</c:v>
                </c:pt>
                <c:pt idx="2">
                  <c:v>982.87712101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14-4A44-B6F8-3CFCB5DBE081}"/>
            </c:ext>
          </c:extLst>
        </c:ser>
        <c:ser>
          <c:idx val="2"/>
          <c:order val="2"/>
          <c:tx>
            <c:strRef>
              <c:f>'[Мацур_Бюджет.xlsx]Задание 2'!$A$7</c:f>
              <c:strCache>
                <c:ptCount val="1"/>
                <c:pt idx="0">
                  <c:v>
Акцизы на спиртосодержащую продукцию, ввозимую на территорию Российской Федерации (пени и проценты по соответствующему платежу)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'[Мацур_Бюджет.xlsx]Задание 2'!$D$4:$F$4</c:f>
              <c:numCache>
                <c:formatCode>@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'[Мацур_Бюджет.xlsx]Задание 2'!$D$7:$F$7</c:f>
              <c:numCache>
                <c:formatCode>0.00</c:formatCode>
                <c:ptCount val="3"/>
                <c:pt idx="0">
                  <c:v>5.5180020899999995</c:v>
                </c:pt>
                <c:pt idx="1">
                  <c:v>7.6169807</c:v>
                </c:pt>
                <c:pt idx="2">
                  <c:v>7.3128999999999998E-3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14-4A44-B6F8-3CFCB5DBE0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1734992"/>
        <c:axId val="1431746224"/>
      </c:barChart>
      <c:catAx>
        <c:axId val="143173499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431746224"/>
        <c:crosses val="autoZero"/>
        <c:auto val="1"/>
        <c:lblAlgn val="ctr"/>
        <c:lblOffset val="100"/>
        <c:noMultiLvlLbl val="0"/>
      </c:catAx>
      <c:valAx>
        <c:axId val="1431746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r>
                  <a:rPr lang="ru-RU"/>
                  <a:t>Млн руб.</a:t>
                </a:r>
              </a:p>
            </c:rich>
          </c:tx>
          <c:layout>
            <c:manualLayout>
              <c:xMode val="edge"/>
              <c:yMode val="edge"/>
              <c:x val="2.6498663946120948E-2"/>
              <c:y val="0.18876820985507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05B78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43173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147666522810932"/>
          <c:y val="0.67249934564692671"/>
          <c:w val="0.89852333477189061"/>
          <c:h val="0.317564803745658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005B78"/>
          </a:solidFill>
          <a:latin typeface="Segoe UI Symbol" panose="020B0502040204020203" pitchFamily="34" charset="0"/>
          <a:ea typeface="Segoe UI Symbol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93044002560497"/>
          <c:y val="5.0329596566722284E-2"/>
          <c:w val="0.84820625431060692"/>
          <c:h val="0.71084348904226879"/>
        </c:manualLayout>
      </c:layout>
      <c:lineChart>
        <c:grouping val="standard"/>
        <c:varyColors val="0"/>
        <c:ser>
          <c:idx val="0"/>
          <c:order val="0"/>
          <c:tx>
            <c:strRef>
              <c:f>'Задание 3'!$A$3</c:f>
              <c:strCache>
                <c:ptCount val="1"/>
                <c:pt idx="0">
                  <c:v>Доходы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5.2366941686716149E-2"/>
                  <c:y val="-5.14821166766207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727-DC4D-9B86-0F319A5F9A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3'!$B$3:$D$3</c:f>
              <c:numCache>
                <c:formatCode>General</c:formatCode>
                <c:ptCount val="3"/>
                <c:pt idx="0">
                  <c:v>1005995.905</c:v>
                </c:pt>
                <c:pt idx="1">
                  <c:v>1177760.2979300001</c:v>
                </c:pt>
                <c:pt idx="2">
                  <c:v>1767938.8336100001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27-DC4D-9B86-0F319A5F9ABC}"/>
            </c:ext>
          </c:extLst>
        </c:ser>
        <c:ser>
          <c:idx val="1"/>
          <c:order val="1"/>
          <c:tx>
            <c:strRef>
              <c:f>'Задание 3'!$A$19</c:f>
              <c:strCache>
                <c:ptCount val="1"/>
                <c:pt idx="0">
                  <c:v>Расходы</c:v>
                </c:pt>
              </c:strCache>
            </c:strRef>
          </c:tx>
          <c:spPr>
            <a:ln w="28575" cap="rnd">
              <a:solidFill>
                <a:srgbClr val="FFB88C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rgbClr val="FFB88C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27-DC4D-9B86-0F319A5F9ABC}"/>
              </c:ext>
            </c:extLst>
          </c:dPt>
          <c:dLbls>
            <c:dLbl>
              <c:idx val="2"/>
              <c:layout>
                <c:manualLayout>
                  <c:x val="-5.5978454906489665E-2"/>
                  <c:y val="6.14231670307805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727-DC4D-9B86-0F319A5F9A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3'!$B$19:$D$19</c:f>
              <c:numCache>
                <c:formatCode>General</c:formatCode>
                <c:ptCount val="3"/>
                <c:pt idx="0">
                  <c:v>1119855.7035399999</c:v>
                </c:pt>
                <c:pt idx="1">
                  <c:v>1364791.7580099998</c:v>
                </c:pt>
                <c:pt idx="2">
                  <c:v>1596574.7011600002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727-DC4D-9B86-0F319A5F9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2655664"/>
        <c:axId val="772657376"/>
      </c:lineChart>
      <c:catAx>
        <c:axId val="77265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772657376"/>
        <c:crosses val="autoZero"/>
        <c:auto val="1"/>
        <c:lblAlgn val="ctr"/>
        <c:lblOffset val="100"/>
        <c:noMultiLvlLbl val="0"/>
      </c:catAx>
      <c:valAx>
        <c:axId val="772657376"/>
        <c:scaling>
          <c:orientation val="minMax"/>
          <c:min val="8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r>
                  <a:rPr lang="ru-RU" dirty="0"/>
                  <a:t>Млн руб.</a:t>
                </a:r>
              </a:p>
            </c:rich>
          </c:tx>
          <c:layout>
            <c:manualLayout>
              <c:xMode val="edge"/>
              <c:yMode val="edge"/>
              <c:x val="1.2640296269207315E-2"/>
              <c:y val="0.302602189231930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rgbClr val="005B78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772655664"/>
        <c:crosses val="autoZero"/>
        <c:crossBetween val="between"/>
        <c:majorUnit val="400000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937841023178663"/>
          <c:y val="0.91720703075803467"/>
          <c:w val="0.28124303735086692"/>
          <c:h val="8.27928937591254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005B78"/>
          </a:solidFill>
          <a:latin typeface="Segoe UI Symbol" panose="020B0502040204020203" pitchFamily="34" charset="0"/>
          <a:ea typeface="Segoe UI Symbol" panose="020B0502040204020203" pitchFamily="34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323833868685662"/>
          <c:y val="3.5588692273338697E-2"/>
          <c:w val="0.85870409521427582"/>
          <c:h val="0.54615926661835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'Задание 3'!$A$4</c:f>
              <c:strCache>
                <c:ptCount val="1"/>
                <c:pt idx="0">
                  <c:v>Налоговые и неналоговые доходы</c:v>
                </c:pt>
              </c:strCache>
            </c:strRef>
          </c:tx>
          <c:spPr>
            <a:solidFill>
              <a:srgbClr val="005B7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3'!$B$4:$D$4</c:f>
              <c:numCache>
                <c:formatCode>General</c:formatCode>
                <c:ptCount val="3"/>
                <c:pt idx="0">
                  <c:v>653810.89500000002</c:v>
                </c:pt>
                <c:pt idx="1">
                  <c:v>538781.60694000009</c:v>
                </c:pt>
                <c:pt idx="2">
                  <c:v>943211.31504999998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08-3D42-98EB-1FD6E37EA683}"/>
            </c:ext>
          </c:extLst>
        </c:ser>
        <c:ser>
          <c:idx val="1"/>
          <c:order val="1"/>
          <c:tx>
            <c:strRef>
              <c:f>'Задание 3'!$A$15</c:f>
              <c:strCache>
                <c:ptCount val="1"/>
                <c:pt idx="0">
                  <c:v>Безвозмездные поступления от других бюджетов бюджетной системы Российской федерации</c:v>
                </c:pt>
              </c:strCache>
            </c:strRef>
          </c:tx>
          <c:spPr>
            <a:solidFill>
              <a:srgbClr val="FFB8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3'!$B$15:$D$15</c:f>
              <c:numCache>
                <c:formatCode>General</c:formatCode>
                <c:ptCount val="3"/>
                <c:pt idx="0">
                  <c:v>352185.01</c:v>
                </c:pt>
                <c:pt idx="1">
                  <c:v>638978.69099000003</c:v>
                </c:pt>
                <c:pt idx="2">
                  <c:v>824727.51856000011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08-3D42-98EB-1FD6E37EA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62"/>
        <c:axId val="528944736"/>
        <c:axId val="528946448"/>
      </c:barChart>
      <c:catAx>
        <c:axId val="528944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528946448"/>
        <c:crosses val="autoZero"/>
        <c:auto val="1"/>
        <c:lblAlgn val="ctr"/>
        <c:lblOffset val="100"/>
        <c:noMultiLvlLbl val="0"/>
      </c:catAx>
      <c:valAx>
        <c:axId val="528946448"/>
        <c:scaling>
          <c:orientation val="minMax"/>
          <c:min val="3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r>
                  <a:rPr lang="ru-RU" dirty="0"/>
                  <a:t>Млн руб.</a:t>
                </a:r>
              </a:p>
            </c:rich>
          </c:tx>
          <c:layout>
            <c:manualLayout>
              <c:xMode val="edge"/>
              <c:yMode val="edge"/>
              <c:x val="2.2287017761677949E-2"/>
              <c:y val="0.228215364003219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baseline="0">
                  <a:solidFill>
                    <a:srgbClr val="005B78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528944736"/>
        <c:crosses val="autoZero"/>
        <c:crossBetween val="between"/>
        <c:majorUnit val="200000"/>
        <c:minorUnit val="40000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064064547694226"/>
          <c:y val="0.70007294928185559"/>
          <c:w val="0.8023302359716884"/>
          <c:h val="0.291004472047792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005B78"/>
          </a:solidFill>
          <a:latin typeface="Segoe UI Symbol" panose="020B0502040204020203" pitchFamily="34" charset="0"/>
          <a:ea typeface="Segoe UI Symbol" panose="020B0502040204020203" pitchFamily="34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2022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3'!$A$20:$A$30</c:f>
              <c:strCache>
                <c:ptCount val="11"/>
                <c:pt idx="0">
                  <c:v>Общегосударственные вопросы</c:v>
                </c:pt>
                <c:pt idx="1">
                  <c:v>Национальная экономика</c:v>
                </c:pt>
                <c:pt idx="2">
                  <c:v>Жилищно-коммунальное хозяйство</c:v>
                </c:pt>
                <c:pt idx="3">
                  <c:v>Охрана окружающей среды</c:v>
                </c:pt>
                <c:pt idx="4">
                  <c:v>Образование</c:v>
                </c:pt>
                <c:pt idx="5">
                  <c:v>Культура, кинематография</c:v>
                </c:pt>
                <c:pt idx="6">
                  <c:v>Социальная политика</c:v>
                </c:pt>
                <c:pt idx="7">
                  <c:v>Социальное обеспечение населения</c:v>
                </c:pt>
                <c:pt idx="8">
                  <c:v>Охрана семьи и детства</c:v>
                </c:pt>
                <c:pt idx="9">
                  <c:v>Физическая культура и спорт</c:v>
                </c:pt>
                <c:pt idx="10">
                  <c:v>Средства массовой информации</c:v>
                </c:pt>
              </c:strCache>
            </c:strRef>
          </c:cat>
          <c:val>
            <c:numRef>
              <c:f>'Задание 3'!$E$20:$E$30</c:f>
              <c:numCache>
                <c:formatCode>0.00</c:formatCode>
                <c:ptCount val="11"/>
                <c:pt idx="0">
                  <c:v>0.12785726468810693</c:v>
                </c:pt>
                <c:pt idx="1">
                  <c:v>6.4014235774653483E-2</c:v>
                </c:pt>
                <c:pt idx="2">
                  <c:v>0.17728000816750658</c:v>
                </c:pt>
                <c:pt idx="3">
                  <c:v>1.564898043971434E-4</c:v>
                </c:pt>
                <c:pt idx="4">
                  <c:v>0.42968122741075349</c:v>
                </c:pt>
                <c:pt idx="5">
                  <c:v>6.998040420946143E-2</c:v>
                </c:pt>
                <c:pt idx="6">
                  <c:v>3.5736870244524786E-2</c:v>
                </c:pt>
                <c:pt idx="7">
                  <c:v>1.4618367177352386E-2</c:v>
                </c:pt>
                <c:pt idx="8">
                  <c:v>1.9363218887446128E-2</c:v>
                </c:pt>
                <c:pt idx="9">
                  <c:v>6.1164573224458667E-2</c:v>
                </c:pt>
                <c:pt idx="10">
                  <c:v>1.4734041133908143E-4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8-9B4C-B36D-AA3D27298559}"/>
            </c:ext>
          </c:extLst>
        </c:ser>
        <c:ser>
          <c:idx val="1"/>
          <c:order val="1"/>
          <c:tx>
            <c:v>2020</c:v>
          </c:tx>
          <c:spPr>
            <a:solidFill>
              <a:srgbClr val="FFB8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3'!$A$20:$A$30</c:f>
              <c:strCache>
                <c:ptCount val="11"/>
                <c:pt idx="0">
                  <c:v>Общегосударственные вопросы</c:v>
                </c:pt>
                <c:pt idx="1">
                  <c:v>Национальная экономика</c:v>
                </c:pt>
                <c:pt idx="2">
                  <c:v>Жилищно-коммунальное хозяйство</c:v>
                </c:pt>
                <c:pt idx="3">
                  <c:v>Охрана окружающей среды</c:v>
                </c:pt>
                <c:pt idx="4">
                  <c:v>Образование</c:v>
                </c:pt>
                <c:pt idx="5">
                  <c:v>Культура, кинематография</c:v>
                </c:pt>
                <c:pt idx="6">
                  <c:v>Социальная политика</c:v>
                </c:pt>
                <c:pt idx="7">
                  <c:v>Социальное обеспечение населения</c:v>
                </c:pt>
                <c:pt idx="8">
                  <c:v>Охрана семьи и детства</c:v>
                </c:pt>
                <c:pt idx="9">
                  <c:v>Физическая культура и спорт</c:v>
                </c:pt>
                <c:pt idx="10">
                  <c:v>Средства массовой информации</c:v>
                </c:pt>
              </c:strCache>
            </c:strRef>
          </c:cat>
          <c:val>
            <c:numRef>
              <c:f>'Задание 3'!$G$20:$G$30</c:f>
              <c:numCache>
                <c:formatCode>0.00</c:formatCode>
                <c:ptCount val="11"/>
                <c:pt idx="0">
                  <c:v>9.3237683361664367E-2</c:v>
                </c:pt>
                <c:pt idx="1">
                  <c:v>4.4987348432750852E-2</c:v>
                </c:pt>
                <c:pt idx="2">
                  <c:v>0.13246727699389069</c:v>
                </c:pt>
                <c:pt idx="3">
                  <c:v>9.8161395070417174E-4</c:v>
                </c:pt>
                <c:pt idx="4">
                  <c:v>0.33224092227855073</c:v>
                </c:pt>
                <c:pt idx="5">
                  <c:v>4.3192778671675293E-2</c:v>
                </c:pt>
                <c:pt idx="6">
                  <c:v>1.5657514165693144E-2</c:v>
                </c:pt>
                <c:pt idx="7">
                  <c:v>3.3231141619275237E-3</c:v>
                </c:pt>
                <c:pt idx="8">
                  <c:v>1.0964598140807984E-2</c:v>
                </c:pt>
                <c:pt idx="9">
                  <c:v>0.32294714984233513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8-9B4C-B36D-AA3D27298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57428799"/>
        <c:axId val="1683622287"/>
      </c:barChart>
      <c:catAx>
        <c:axId val="11574287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r>
                  <a:rPr lang="ru-RU" sz="1200" dirty="0"/>
                  <a:t>Доля в структуре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683622287"/>
        <c:crosses val="autoZero"/>
        <c:auto val="1"/>
        <c:lblAlgn val="ctr"/>
        <c:lblOffset val="100"/>
        <c:noMultiLvlLbl val="0"/>
      </c:catAx>
      <c:valAx>
        <c:axId val="16836222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15742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egoe UI Symbol" panose="020B0502040204020203" pitchFamily="34" charset="0"/>
          <a:ea typeface="Segoe UI Symbol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D5AD9-580A-6242-BFF7-0DD9150CFE7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6B170-BD0F-F443-B1BA-FD9B61B12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86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213A-075C-3398-1215-9EA5DF2C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3E2C477-6480-F12D-F3B7-29B5CF20E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DB5085-7350-F61A-B301-FD3A2C4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733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8EE180-7B77-3C52-8F0E-E272E84B0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7949EB-A57B-F93F-72AD-23317C284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2B4204-6819-B044-569A-C7B49D1A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D070DE-9D81-E9DA-9A16-D689F974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7F820-4551-E3CB-45E1-5C13CBE2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97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F5626-360F-97A4-9EF1-1D7E1046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364DE9-96D8-42D9-A1C9-E541DBD0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4FC1D-F88C-86C7-8414-D16FDAE7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985A6-8380-1B04-78FA-3A4BBF80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AD0EC8-AD47-E92F-351F-7D5713F9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99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4B01C-3967-6E28-C01D-051CEEB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C566DA-5001-1ACB-A7F1-144734E88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82E290-76F6-DF64-6EEE-C61175B9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51CB93-E894-BA07-1C1B-DCD98F67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A7E055-4BF7-4F31-6FFB-97D577E0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44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37613-5EE0-D695-ACA3-647EAD23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9E904-EC25-B1DB-3199-ACA7137D6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2433AA-D629-FE5B-6C22-640921555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168060-0CCD-1E1B-C1CF-6B71F12A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51906A-05E6-1914-E996-78AB80FC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61F4A3-CCA9-074E-9AB1-9367216E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65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AF189-4283-6FBB-B5F1-21A7A61D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1DCE64-D745-A271-09D3-DBEC72A78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A6E8AE-B3DF-DEC2-D620-CAD200029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A1FBD9-CEF3-8316-4849-833A1B05A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29A413-A95F-A676-A453-DFA5C761C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98817D-D2CA-A073-B2B2-965C92D8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BF8161-AEA2-5B68-C78D-5D44B752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B1DA79C-18C0-E5E9-5835-FFD7667C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32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75A0C-F0A9-A35F-7694-7C1EA098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9A1BA1-E998-EF5E-7F6A-A7B324B2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03F429-F8A9-5545-D27A-AB69E41F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B37153-1766-7344-AAE1-0E67F781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12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D1AB68-23C4-CCA5-324B-3BB848B2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415A42-825A-CD60-B143-424FAD9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4154EF-E379-99D0-005F-6738D95A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3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EBAFF-CB3E-E170-EAC8-2A9E7FB3A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797BC-263F-1655-750E-85E3E6EAE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511E21-C6FF-5464-5D25-63680470C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4DEA87-9BF0-BB79-12B2-1F0E3738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7203A7-EC68-B579-328D-4954546C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465574-D61B-8726-9C16-52210007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81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66710-A1EE-8522-805A-D384EAD06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719FD1-E2EC-DC94-372F-764321E0E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78460-AFF1-73D8-2FD5-8C3551021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091172-6D5B-91DE-14C1-A73540D9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247090-90DF-D8E3-7106-78ACE423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5AD96B-EEA4-0E51-B271-BCDDD48E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97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E871B-1E3A-3504-502A-80F4F7FA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1EFA99-432E-0034-5D6B-C825F25E4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D965FD-3D75-7020-F7B6-0CB00007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2D63C4-5889-A374-94FD-1DC1A080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C64CA3-D53D-E4E7-C3A0-FF39819B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C30AB1-C3DC-EB18-1308-2BE61AA87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37C83D-77A5-5E14-87D4-A9619545F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8D3F1-8508-BB51-5973-7C138966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152E64-8875-3153-C071-39B54CB1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73193D-985E-C7EA-9CF1-34CB65B1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032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4">
            <a:extLst>
              <a:ext uri="{FF2B5EF4-FFF2-40B4-BE49-F238E27FC236}">
                <a16:creationId xmlns:a16="http://schemas.microsoft.com/office/drawing/2014/main" id="{D1FCC7F7-DEAD-53B8-4D4C-C108305C2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7033" y="954979"/>
            <a:ext cx="10996650" cy="234513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5262"/>
              </a:lnSpc>
              <a:spcBef>
                <a:spcPts val="750"/>
              </a:spcBef>
              <a:defRPr sz="4355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b="0" dirty="0"/>
              <a:t>в 3 строки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51350FA-0E50-0E5B-0DF2-26ED584B784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47033" y="3922320"/>
            <a:ext cx="7977256" cy="523764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>
              <a:lnSpc>
                <a:spcPts val="2141"/>
              </a:lnSpc>
              <a:spcBef>
                <a:spcPts val="0"/>
              </a:spcBef>
              <a:buNone/>
              <a:defRPr sz="1814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8" indent="0" algn="ctr">
              <a:buNone/>
              <a:defRPr sz="1501"/>
            </a:lvl2pPr>
            <a:lvl3pPr marL="685816" indent="0" algn="ctr">
              <a:buNone/>
              <a:defRPr sz="1351"/>
            </a:lvl3pPr>
            <a:lvl4pPr marL="1028725" indent="0" algn="ctr">
              <a:buNone/>
              <a:defRPr sz="1200"/>
            </a:lvl4pPr>
            <a:lvl5pPr marL="1371633" indent="0" algn="ctr">
              <a:buNone/>
              <a:defRPr sz="1200"/>
            </a:lvl5pPr>
            <a:lvl6pPr marL="1714541" indent="0" algn="ctr">
              <a:buNone/>
              <a:defRPr sz="1200"/>
            </a:lvl6pPr>
            <a:lvl7pPr marL="2057449" indent="0" algn="ctr">
              <a:buNone/>
              <a:defRPr sz="1200"/>
            </a:lvl7pPr>
            <a:lvl8pPr marL="2400357" indent="0" algn="ctr">
              <a:buNone/>
              <a:defRPr sz="1200"/>
            </a:lvl8pPr>
            <a:lvl9pPr marL="2743265" indent="0" algn="ctr">
              <a:buNone/>
              <a:defRPr sz="1200"/>
            </a:lvl9pPr>
          </a:lstStyle>
          <a:p>
            <a:r>
              <a:rPr lang="ru-RU" dirty="0"/>
              <a:t>Дата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79AE331-39E7-B77B-594E-34840A7966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810" y="413324"/>
            <a:ext cx="4932388" cy="2772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55" b="1">
                <a:solidFill>
                  <a:srgbClr val="FFB88C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НАЗВАНИЕ ПРЕЗЕНТАЦИИ </a:t>
            </a:r>
          </a:p>
          <a:p>
            <a:pPr lvl="0"/>
            <a:r>
              <a:rPr lang="ru-RU" dirty="0"/>
              <a:t>3 СТРОКИ</a:t>
            </a:r>
          </a:p>
        </p:txBody>
      </p:sp>
      <p:pic>
        <p:nvPicPr>
          <p:cNvPr id="12" name="Изображение" descr="Изображение">
            <a:extLst>
              <a:ext uri="{FF2B5EF4-FFF2-40B4-BE49-F238E27FC236}">
                <a16:creationId xmlns:a16="http://schemas.microsoft.com/office/drawing/2014/main" id="{8F1A37D3-D4D8-7894-2D12-33BC0DCF0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4883" y="5903021"/>
            <a:ext cx="1298972" cy="54181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9490568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E6B732-B59B-37B5-3A57-EB65635C14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479" y="1"/>
            <a:ext cx="4823522" cy="6857999"/>
          </a:xfrm>
          <a:prstGeom prst="rect">
            <a:avLst/>
          </a:prstGeom>
        </p:spPr>
      </p:pic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12ACE081-4004-7B47-9754-C6A84B5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5" y="620712"/>
            <a:ext cx="11084131" cy="946834"/>
          </a:xfrm>
          <a:prstGeom prst="rect">
            <a:avLst/>
          </a:prstGeom>
        </p:spPr>
        <p:txBody>
          <a:bodyPr lIns="0" tIns="0" rIns="0" bIns="288000"/>
          <a:lstStyle>
            <a:lvl1pPr>
              <a:defRPr sz="2540" b="1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540E27A0-4942-D340-BEAD-A25BB40479D5}"/>
              </a:ext>
            </a:extLst>
          </p:cNvPr>
          <p:cNvSpPr txBox="1">
            <a:spLocks/>
          </p:cNvSpPr>
          <p:nvPr userDrawn="1"/>
        </p:nvSpPr>
        <p:spPr>
          <a:xfrm>
            <a:off x="11162019" y="36512"/>
            <a:ext cx="652537" cy="182563"/>
          </a:xfrm>
          <a:prstGeom prst="rect">
            <a:avLst/>
          </a:prstGeom>
        </p:spPr>
        <p:txBody>
          <a:bodyPr lIns="0" rIns="0" bIns="0" anchor="ctr"/>
          <a:lstStyle>
            <a:defPPr>
              <a:defRPr lang="ru-RU"/>
            </a:defPPr>
            <a:lvl1pPr marL="0" algn="r" defTabSz="914400" rtl="0" eaLnBrk="1" latinLnBrk="0" hangingPunct="1">
              <a:defRPr sz="26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1A4C3E-BD2D-024A-9DE4-DC9D8AE9E927}" type="slidenum">
              <a:rPr lang="ru-RU" sz="907" b="0" i="0" smtClean="0">
                <a:solidFill>
                  <a:schemeClr val="tx2"/>
                </a:solidFill>
                <a:latin typeface="Verdana" panose="020B0604030504040204" pitchFamily="34" charset="0"/>
              </a:rPr>
              <a:pPr algn="r"/>
              <a:t>‹#›</a:t>
            </a:fld>
            <a:endParaRPr lang="ru-RU" sz="907" b="0" i="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Изображение" descr="Изображение">
            <a:extLst>
              <a:ext uri="{FF2B5EF4-FFF2-40B4-BE49-F238E27FC236}">
                <a16:creationId xmlns:a16="http://schemas.microsoft.com/office/drawing/2014/main" id="{25B32541-6A4B-8BD7-A1FE-C6A905A2F2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703" y="5859063"/>
            <a:ext cx="1359153" cy="5669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4521742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A19DD3B5-9B95-D748-90EF-5B090AF0A9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2125" y="2047814"/>
            <a:ext cx="5324709" cy="3851907"/>
          </a:xfrm>
          <a:prstGeom prst="rect">
            <a:avLst/>
          </a:prstGeom>
        </p:spPr>
        <p:txBody>
          <a:bodyPr lIns="0" tIns="0" rIns="0" bIns="0"/>
          <a:lstStyle>
            <a:lvl1pPr marL="253489" marR="0" indent="-253489" algn="l" defTabSz="685816" rtl="0" eaLnBrk="1" fontAlgn="auto" latinLnBrk="0" hangingPunct="1">
              <a:lnSpc>
                <a:spcPts val="1361"/>
              </a:lnSpc>
              <a:spcBef>
                <a:spcPts val="1089"/>
              </a:spcBef>
              <a:spcAft>
                <a:spcPts val="0"/>
              </a:spcAft>
              <a:buClr>
                <a:schemeClr val="accent2"/>
              </a:buClr>
              <a:buSzPct val="130000"/>
              <a:buFontTx/>
              <a:buBlip>
                <a:blip r:embed="rId2"/>
              </a:buBlip>
              <a:tabLst/>
              <a:defRPr sz="998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r>
              <a:rPr lang="ru-RU" dirty="0"/>
              <a:t>Фонд «Центр стратегических разработок» (ЦСР) — некоммерческая организация, играющая ведущую роль в разработке и реализации стратегии долгосрочного развития экономики Российской Федерации. Основан в декабре 1999 года. К маю 2000 года ЦСР завершил работу над Стратегией социально-экономического развития Российской Федерации на период до 2010 года (Стратегия 2010), которая впоследствии была принята высшим руководством страны. Состав руководства фонда (в разное время): Герман Греф, Эльвира </a:t>
            </a:r>
            <a:r>
              <a:rPr lang="ru-RU" dirty="0" err="1"/>
              <a:t>Набиуллина</a:t>
            </a:r>
            <a:r>
              <a:rPr lang="ru-RU" dirty="0"/>
              <a:t>, Алексей Кудрин, Дмитрий Мезенцев, Максим Орешкин. В ноябре 2018 года Министерство экономического развития Российской Федерации вошло в состав учредителей ЦСР. В июле 2020 года Максим Решетников возглавил совет ЦСР, в сентябре этого же года президентом фонда стал Владислав Онищенко.</a:t>
            </a:r>
            <a:endParaRPr lang="en-US" dirty="0"/>
          </a:p>
          <a:p>
            <a:r>
              <a:rPr lang="ru-RU" dirty="0"/>
              <a:t>Фонд «Центр стратегических разработок» (ЦСР) — некоммерческая организация, играющая ведущую роль в разработке и реализации стратегии долгосрочного развития экономики Российской Федерации.</a:t>
            </a:r>
            <a:endParaRPr lang="en-US" dirty="0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79232CF-2F7F-BA45-A03C-57C13C1BB68B}"/>
              </a:ext>
            </a:extLst>
          </p:cNvPr>
          <p:cNvSpPr txBox="1">
            <a:spLocks/>
          </p:cNvSpPr>
          <p:nvPr userDrawn="1"/>
        </p:nvSpPr>
        <p:spPr>
          <a:xfrm>
            <a:off x="10985528" y="168247"/>
            <a:ext cx="652537" cy="182563"/>
          </a:xfrm>
          <a:prstGeom prst="rect">
            <a:avLst/>
          </a:prstGeom>
        </p:spPr>
        <p:txBody>
          <a:bodyPr lIns="0" rIns="0" bIns="0" anchor="ctr"/>
          <a:lstStyle>
            <a:defPPr>
              <a:defRPr lang="ru-RU"/>
            </a:defPPr>
            <a:lvl1pPr marL="0" algn="r" defTabSz="914400" rtl="0" eaLnBrk="1" latinLnBrk="0" hangingPunct="1">
              <a:defRPr sz="26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1A4C3E-BD2D-024A-9DE4-DC9D8AE9E927}" type="slidenum">
              <a:rPr lang="ru-RU" sz="907" b="0" i="0" smtClean="0">
                <a:solidFill>
                  <a:schemeClr val="tx2"/>
                </a:solidFill>
                <a:latin typeface="Verdana" panose="020B0604030504040204" pitchFamily="34" charset="0"/>
              </a:rPr>
              <a:pPr algn="r"/>
              <a:t>‹#›</a:t>
            </a:fld>
            <a:endParaRPr lang="ru-RU" sz="907" b="0" i="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5D237658-B279-C548-AC01-2E49A179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5" y="620712"/>
            <a:ext cx="11069035" cy="946834"/>
          </a:xfrm>
          <a:prstGeom prst="rect">
            <a:avLst/>
          </a:prstGeom>
        </p:spPr>
        <p:txBody>
          <a:bodyPr lIns="0" tIns="0" rIns="0" bIns="288000"/>
          <a:lstStyle>
            <a:lvl1pPr>
              <a:defRPr sz="2540" b="1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F87E30A-2470-3B4A-B94E-98CF5CF2356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53935" y="1329967"/>
            <a:ext cx="7977256" cy="498116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>
              <a:lnSpc>
                <a:spcPts val="1869"/>
              </a:lnSpc>
              <a:spcBef>
                <a:spcPts val="0"/>
              </a:spcBef>
              <a:buNone/>
              <a:defRPr sz="1633" b="0">
                <a:solidFill>
                  <a:srgbClr val="FFB88C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342908" indent="0" algn="ctr">
              <a:buNone/>
              <a:defRPr sz="1501"/>
            </a:lvl2pPr>
            <a:lvl3pPr marL="685816" indent="0" algn="ctr">
              <a:buNone/>
              <a:defRPr sz="1351"/>
            </a:lvl3pPr>
            <a:lvl4pPr marL="1028725" indent="0" algn="ctr">
              <a:buNone/>
              <a:defRPr sz="1200"/>
            </a:lvl4pPr>
            <a:lvl5pPr marL="1371633" indent="0" algn="ctr">
              <a:buNone/>
              <a:defRPr sz="1200"/>
            </a:lvl5pPr>
            <a:lvl6pPr marL="1714541" indent="0" algn="ctr">
              <a:buNone/>
              <a:defRPr sz="1200"/>
            </a:lvl6pPr>
            <a:lvl7pPr marL="2057449" indent="0" algn="ctr">
              <a:buNone/>
              <a:defRPr sz="1200"/>
            </a:lvl7pPr>
            <a:lvl8pPr marL="2400357" indent="0" algn="ctr">
              <a:buNone/>
              <a:defRPr sz="1200"/>
            </a:lvl8pPr>
            <a:lvl9pPr marL="2743265" indent="0" algn="ctr">
              <a:buNone/>
              <a:defRPr sz="12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" name="Изображение" descr="Изображение">
            <a:extLst>
              <a:ext uri="{FF2B5EF4-FFF2-40B4-BE49-F238E27FC236}">
                <a16:creationId xmlns:a16="http://schemas.microsoft.com/office/drawing/2014/main" id="{5B07960F-DD1E-771C-585A-24A48FC0AD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703" y="5859063"/>
            <a:ext cx="1359153" cy="5669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7450270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7">
            <a:extLst>
              <a:ext uri="{FF2B5EF4-FFF2-40B4-BE49-F238E27FC236}">
                <a16:creationId xmlns:a16="http://schemas.microsoft.com/office/drawing/2014/main" id="{78911379-F8B2-7246-BB5C-43ABEAE0FA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3935" y="1851714"/>
            <a:ext cx="3031436" cy="3875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06"/>
              </a:lnSpc>
              <a:spcBef>
                <a:spcPts val="0"/>
              </a:spcBef>
              <a:buNone/>
              <a:defRPr sz="1361" b="0">
                <a:solidFill>
                  <a:srgbClr val="3C707D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График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9AA68350-EA07-6F4F-B91A-6E441234D7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935" y="2126778"/>
            <a:ext cx="3031436" cy="3875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70"/>
              </a:lnSpc>
              <a:spcBef>
                <a:spcPts val="0"/>
              </a:spcBef>
              <a:buNone/>
              <a:defRPr sz="907" b="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Источник</a:t>
            </a:r>
          </a:p>
        </p:txBody>
      </p:sp>
      <p:sp>
        <p:nvSpPr>
          <p:cNvPr id="22" name="Номер слайда 5">
            <a:extLst>
              <a:ext uri="{FF2B5EF4-FFF2-40B4-BE49-F238E27FC236}">
                <a16:creationId xmlns:a16="http://schemas.microsoft.com/office/drawing/2014/main" id="{31BF746B-A0BA-9F46-96CC-B0CA9CE13571}"/>
              </a:ext>
            </a:extLst>
          </p:cNvPr>
          <p:cNvSpPr txBox="1">
            <a:spLocks/>
          </p:cNvSpPr>
          <p:nvPr userDrawn="1"/>
        </p:nvSpPr>
        <p:spPr>
          <a:xfrm>
            <a:off x="10985528" y="168247"/>
            <a:ext cx="652537" cy="182563"/>
          </a:xfrm>
          <a:prstGeom prst="rect">
            <a:avLst/>
          </a:prstGeom>
        </p:spPr>
        <p:txBody>
          <a:bodyPr lIns="0" rIns="0" bIns="0" anchor="ctr"/>
          <a:lstStyle>
            <a:defPPr>
              <a:defRPr lang="ru-RU"/>
            </a:defPPr>
            <a:lvl1pPr marL="0" algn="r" defTabSz="914400" rtl="0" eaLnBrk="1" latinLnBrk="0" hangingPunct="1">
              <a:defRPr sz="26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1A4C3E-BD2D-024A-9DE4-DC9D8AE9E927}" type="slidenum">
              <a:rPr lang="ru-RU" sz="907" b="0" i="0" smtClean="0">
                <a:solidFill>
                  <a:schemeClr val="tx2"/>
                </a:solidFill>
                <a:latin typeface="Verdana" panose="020B0604030504040204" pitchFamily="34" charset="0"/>
              </a:rPr>
              <a:pPr algn="r"/>
              <a:t>‹#›</a:t>
            </a:fld>
            <a:endParaRPr lang="ru-RU" sz="907" b="0" i="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Заголовок 4">
            <a:extLst>
              <a:ext uri="{FF2B5EF4-FFF2-40B4-BE49-F238E27FC236}">
                <a16:creationId xmlns:a16="http://schemas.microsoft.com/office/drawing/2014/main" id="{B5C2AC8D-E729-3A42-B31E-1158A62D8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5" y="620712"/>
            <a:ext cx="11069035" cy="946834"/>
          </a:xfrm>
          <a:prstGeom prst="rect">
            <a:avLst/>
          </a:prstGeom>
        </p:spPr>
        <p:txBody>
          <a:bodyPr lIns="0" tIns="0" rIns="0" bIns="288000"/>
          <a:lstStyle>
            <a:lvl1pPr>
              <a:defRPr sz="2540" b="1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21DB4137-311F-384C-AA59-2A554DCE71A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53935" y="1329967"/>
            <a:ext cx="7977256" cy="498116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>
              <a:lnSpc>
                <a:spcPts val="1869"/>
              </a:lnSpc>
              <a:spcBef>
                <a:spcPts val="0"/>
              </a:spcBef>
              <a:buNone/>
              <a:defRPr sz="1633" b="0">
                <a:solidFill>
                  <a:srgbClr val="FFB88C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342908" indent="0" algn="ctr">
              <a:buNone/>
              <a:defRPr sz="1501"/>
            </a:lvl2pPr>
            <a:lvl3pPr marL="685816" indent="0" algn="ctr">
              <a:buNone/>
              <a:defRPr sz="1351"/>
            </a:lvl3pPr>
            <a:lvl4pPr marL="1028725" indent="0" algn="ctr">
              <a:buNone/>
              <a:defRPr sz="1200"/>
            </a:lvl4pPr>
            <a:lvl5pPr marL="1371633" indent="0" algn="ctr">
              <a:buNone/>
              <a:defRPr sz="1200"/>
            </a:lvl5pPr>
            <a:lvl6pPr marL="1714541" indent="0" algn="ctr">
              <a:buNone/>
              <a:defRPr sz="1200"/>
            </a:lvl6pPr>
            <a:lvl7pPr marL="2057449" indent="0" algn="ctr">
              <a:buNone/>
              <a:defRPr sz="1200"/>
            </a:lvl7pPr>
            <a:lvl8pPr marL="2400357" indent="0" algn="ctr">
              <a:buNone/>
              <a:defRPr sz="1200"/>
            </a:lvl8pPr>
            <a:lvl9pPr marL="2743265" indent="0" algn="ctr">
              <a:buNone/>
              <a:defRPr sz="12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" name="Изображение" descr="Изображение">
            <a:extLst>
              <a:ext uri="{FF2B5EF4-FFF2-40B4-BE49-F238E27FC236}">
                <a16:creationId xmlns:a16="http://schemas.microsoft.com/office/drawing/2014/main" id="{0B770116-0DD6-FB6F-59C6-E9EF08E99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4703" y="5859063"/>
            <a:ext cx="1359153" cy="5669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389426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33597-F5F9-BB83-1DB3-9D904A70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CD8728-1681-EE33-88F1-AFE9E3846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B0B973-BC7E-9080-933E-42E4022F8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B46CD-5430-6245-A778-FF46968DC8DE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DED5B7-1E75-E682-BF6D-3850238B1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2CB0E-8CF9-F9AB-8A2D-31138FCD8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1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976FE8-8AE1-5975-093F-20FFB0F3C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30" y="91"/>
            <a:ext cx="11789071" cy="68578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718F12-49B1-9831-735D-92526D862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" y="91"/>
            <a:ext cx="12188970" cy="68578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1B825-CB4D-B261-9159-CDBC83E1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75" y="406202"/>
            <a:ext cx="10996650" cy="2345069"/>
          </a:xfrm>
        </p:spPr>
        <p:txBody>
          <a:bodyPr/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Задание по 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Бюджету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F3F215-6A21-209F-653E-CC60F82B883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97675" y="3173982"/>
            <a:ext cx="7977256" cy="523764"/>
          </a:xfrm>
        </p:spPr>
        <p:txBody>
          <a:bodyPr/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28.10.2025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776BC85-04E6-176F-9D22-837187623220}"/>
              </a:ext>
            </a:extLst>
          </p:cNvPr>
          <p:cNvSpPr txBox="1">
            <a:spLocks/>
          </p:cNvSpPr>
          <p:nvPr/>
        </p:nvSpPr>
        <p:spPr>
          <a:xfrm>
            <a:off x="597675" y="5259435"/>
            <a:ext cx="7977256" cy="514375"/>
          </a:xfrm>
          <a:prstGeom prst="rect">
            <a:avLst/>
          </a:prstGeom>
        </p:spPr>
        <p:txBody>
          <a:bodyPr wrap="square" lIns="0" tIns="0" bIns="228603">
            <a:spAutoFit/>
          </a:bodyPr>
          <a:lstStyle>
            <a:lvl1pPr marL="0" indent="0" algn="l" defTabSz="755970" rtl="0" eaLnBrk="1" latinLnBrk="0" hangingPunct="1">
              <a:lnSpc>
                <a:spcPts val="236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7985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970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95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94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92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791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589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388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44"/>
              </a:spcBef>
            </a:pPr>
            <a:r>
              <a:rPr lang="ru-RU" sz="1814" b="1" dirty="0" err="1">
                <a:solidFill>
                  <a:srgbClr val="FFB8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Мацур</a:t>
            </a:r>
            <a:r>
              <a:rPr lang="ru-RU" sz="1814" b="1" dirty="0">
                <a:solidFill>
                  <a:srgbClr val="FFB8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Алина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F774329-E243-450B-C03B-BB0196CF22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766" y="5912179"/>
            <a:ext cx="1292825" cy="53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6206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F6A3-3CEE-8FDA-2F39-513C0341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0E5C76A3-AA97-E26A-B996-E971465E4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04841"/>
              </p:ext>
            </p:extLst>
          </p:nvPr>
        </p:nvGraphicFramePr>
        <p:xfrm>
          <a:off x="406057" y="3762925"/>
          <a:ext cx="8550374" cy="27978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68492">
                  <a:extLst>
                    <a:ext uri="{9D8B030D-6E8A-4147-A177-3AD203B41FA5}">
                      <a16:colId xmlns:a16="http://schemas.microsoft.com/office/drawing/2014/main" val="3544783488"/>
                    </a:ext>
                  </a:extLst>
                </a:gridCol>
                <a:gridCol w="1264179">
                  <a:extLst>
                    <a:ext uri="{9D8B030D-6E8A-4147-A177-3AD203B41FA5}">
                      <a16:colId xmlns:a16="http://schemas.microsoft.com/office/drawing/2014/main" val="19751411"/>
                    </a:ext>
                  </a:extLst>
                </a:gridCol>
                <a:gridCol w="1000093">
                  <a:extLst>
                    <a:ext uri="{9D8B030D-6E8A-4147-A177-3AD203B41FA5}">
                      <a16:colId xmlns:a16="http://schemas.microsoft.com/office/drawing/2014/main" val="80616799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1506082425"/>
                    </a:ext>
                  </a:extLst>
                </a:gridCol>
                <a:gridCol w="1431166">
                  <a:extLst>
                    <a:ext uri="{9D8B030D-6E8A-4147-A177-3AD203B41FA5}">
                      <a16:colId xmlns:a16="http://schemas.microsoft.com/office/drawing/2014/main" val="2957049858"/>
                    </a:ext>
                  </a:extLst>
                </a:gridCol>
                <a:gridCol w="1258735">
                  <a:extLst>
                    <a:ext uri="{9D8B030D-6E8A-4147-A177-3AD203B41FA5}">
                      <a16:colId xmlns:a16="http://schemas.microsoft.com/office/drawing/2014/main" val="4132089899"/>
                    </a:ext>
                  </a:extLst>
                </a:gridCol>
              </a:tblGrid>
              <a:tr h="353052">
                <a:tc>
                  <a:txBody>
                    <a:bodyPr/>
                    <a:lstStyle/>
                    <a:p>
                      <a:endParaRPr lang="ru-RU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Segoe UI Black" panose="020B0A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5315" marR="123279" marT="61640" marB="61640"/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endParaRPr lang="ru-RU" sz="8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ea typeface="Segoe UI Black" panose="020B0A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3279" marR="0" marT="61640" marB="61640"/>
                </a:tc>
                <a:tc hMerge="1">
                  <a:txBody>
                    <a:bodyPr/>
                    <a:lstStyle/>
                    <a:p>
                      <a:pPr algn="r"/>
                      <a:endParaRPr lang="ru-RU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lang="ru-RU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Segoe UI Black" panose="020B0A02040204020203" pitchFamily="34" charset="0"/>
                          <a:cs typeface="Segoe UI" panose="020B0502040204020203" pitchFamily="34" charset="0"/>
                        </a:rPr>
                        <a:t>В тысячах рублей</a:t>
                      </a:r>
                    </a:p>
                  </a:txBody>
                  <a:tcPr marL="123279" marR="32658" marT="61640" marB="61640"/>
                </a:tc>
                <a:tc hMerge="1">
                  <a:txBody>
                    <a:bodyPr/>
                    <a:lstStyle/>
                    <a:p>
                      <a:pPr algn="r"/>
                      <a:endParaRPr lang="ru-RU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endParaRPr lang="ru-RU" sz="10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ea typeface="Segoe UI Black" panose="020B0A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3279" marR="32658" marT="61640" marB="61640"/>
                </a:tc>
                <a:extLst>
                  <a:ext uri="{0D108BD9-81ED-4DB2-BD59-A6C34878D82A}">
                    <a16:rowId xmlns:a16="http://schemas.microsoft.com/office/drawing/2014/main" val="822544577"/>
                  </a:ext>
                </a:extLst>
              </a:tr>
              <a:tr h="24227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2021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2023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273607"/>
                  </a:ext>
                </a:extLst>
              </a:tr>
              <a:tr h="29696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Общегосударственные вопросы</a:t>
                      </a:r>
                    </a:p>
                  </a:txBody>
                  <a:tcPr marL="9525" marR="9525" marT="9525" marB="0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768,80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847,10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843,50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0,00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0,00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854303"/>
                  </a:ext>
                </a:extLst>
              </a:tr>
              <a:tr h="520780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Национальная безопасность и правоохранительная деятельность</a:t>
                      </a: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85 245 411,80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91 999 129,80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90 196 947,90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106 046 954,30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125 520 057,00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228760"/>
                  </a:ext>
                </a:extLst>
              </a:tr>
              <a:tr h="35072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Жилищно-коммунальное хозяйство</a:t>
                      </a:r>
                    </a:p>
                  </a:txBody>
                  <a:tcPr marL="9525" marR="9525" marT="9525" marB="0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597 118,80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361 404,00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461 404,00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1 047 938,40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902 575,90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81561"/>
                  </a:ext>
                </a:extLst>
              </a:tr>
              <a:tr h="353116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Образование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1 304 067,90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1 327 400,20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1 415 413,10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1 535 057,00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1 865 562,70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775276"/>
                  </a:ext>
                </a:extLst>
              </a:tr>
              <a:tr h="340101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Здравоохранение</a:t>
                      </a:r>
                    </a:p>
                  </a:txBody>
                  <a:tcPr marL="9525" marR="9525" marT="9525" marB="0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766 080,70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879 926,50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1 171 599,70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1 049 262,70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2 104 243,20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418209"/>
                  </a:ext>
                </a:extLst>
              </a:tr>
              <a:tr h="34081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Социальная политика</a:t>
                      </a: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11 379 747,90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12 461 439,10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13 894 950,40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16 660 302,80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22 637 147,20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582871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313C997-DAFE-065A-E97B-0E925ADEF85C}"/>
              </a:ext>
            </a:extLst>
          </p:cNvPr>
          <p:cNvSpPr txBox="1">
            <a:spLocks/>
          </p:cNvSpPr>
          <p:nvPr/>
        </p:nvSpPr>
        <p:spPr>
          <a:xfrm>
            <a:off x="280374" y="216135"/>
            <a:ext cx="8676057" cy="946809"/>
          </a:xfrm>
          <a:prstGeom prst="rect">
            <a:avLst/>
          </a:prstGeom>
        </p:spPr>
        <p:txBody>
          <a:bodyPr vert="horz" lIns="0" tIns="0" rIns="0" bIns="28800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40" b="1" kern="120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1. Проанализировать структуру расходов федерального бюджета по коду вида расходов 415 за последние 5 лет.</a:t>
            </a: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7ABAF8B5-679E-22F3-7B52-3E6CE8E22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027757"/>
              </p:ext>
            </p:extLst>
          </p:nvPr>
        </p:nvGraphicFramePr>
        <p:xfrm>
          <a:off x="4516916" y="978161"/>
          <a:ext cx="7236397" cy="263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49F6667-97C7-50D7-0773-5708C12DDA20}"/>
              </a:ext>
            </a:extLst>
          </p:cNvPr>
          <p:cNvSpPr txBox="1"/>
          <p:nvPr/>
        </p:nvSpPr>
        <p:spPr>
          <a:xfrm>
            <a:off x="506776" y="1476260"/>
            <a:ext cx="210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Сюда, про 415 код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2174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D651BD8-EC92-78FC-81C7-29BF5543A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530323"/>
              </p:ext>
            </p:extLst>
          </p:nvPr>
        </p:nvGraphicFramePr>
        <p:xfrm>
          <a:off x="280374" y="769872"/>
          <a:ext cx="6742323" cy="591492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244029">
                  <a:extLst>
                    <a:ext uri="{9D8B030D-6E8A-4147-A177-3AD203B41FA5}">
                      <a16:colId xmlns:a16="http://schemas.microsoft.com/office/drawing/2014/main" val="2770648745"/>
                    </a:ext>
                  </a:extLst>
                </a:gridCol>
                <a:gridCol w="1498294">
                  <a:extLst>
                    <a:ext uri="{9D8B030D-6E8A-4147-A177-3AD203B41FA5}">
                      <a16:colId xmlns:a16="http://schemas.microsoft.com/office/drawing/2014/main" val="4222838497"/>
                    </a:ext>
                  </a:extLst>
                </a:gridCol>
              </a:tblGrid>
              <a:tr h="29867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br>
                        <a:rPr lang="ru-RU" sz="1200" b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Национальная безопасность и правоохранительная деятельность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12520 057 000,00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437775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Федеральный проект "Цифровое государственное управление"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5 277 366 200,00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211818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Обеспечение деятельности органов военной прокуратуры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7 607 069 800,00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632037"/>
                  </a:ext>
                </a:extLst>
              </a:tr>
              <a:tr h="40562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Обеспечение деятельности органов и организаций прокуратуры Российской Федерации, за исключением органов военной прокуратуры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112 627 980 500,00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4976769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Реализация функций иных федеральных органов государственной власти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7 640 500,00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1255027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Жилищно-коммунальное хозяйство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902 575 900,00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78524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Жилищное хозяйство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902 575 900,00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740500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Образование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1 867 185 400,00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829683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Профессиональная подготовка, переподготовка и повышение квалификации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2 865 800,00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844221"/>
                  </a:ext>
                </a:extLst>
              </a:tr>
              <a:tr h="40562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Обеспечение деятельности органов и организаций прокуратуры Российской Федерации, за исключением органов военной прокуратуры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1 622 700,00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158911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Высшее образование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1 573 631 600,00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742993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Прикладные научные исследования в области образования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289 065 300,00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125569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Здравоохранение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2 104 243 200,00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5291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Санаторно-оздоровительная помощь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2 104 243 200,00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4792171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Социальная политика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22 637 147 200,00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11315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Пенсионное обеспечение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21 440 382 200,00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7714609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Социальное обеспечение населения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1 189 773 300,00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985410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Охрана семьи и детства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6 991 700,00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8003209"/>
                  </a:ext>
                </a:extLst>
              </a:tr>
            </a:tbl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06ED7E9-C2AE-1400-BDD7-C2A08768DCC3}"/>
              </a:ext>
            </a:extLst>
          </p:cNvPr>
          <p:cNvSpPr txBox="1">
            <a:spLocks/>
          </p:cNvSpPr>
          <p:nvPr/>
        </p:nvSpPr>
        <p:spPr>
          <a:xfrm>
            <a:off x="280374" y="216135"/>
            <a:ext cx="8676057" cy="946809"/>
          </a:xfrm>
          <a:prstGeom prst="rect">
            <a:avLst/>
          </a:prstGeom>
        </p:spPr>
        <p:txBody>
          <a:bodyPr vert="horz" lIns="0" tIns="0" rIns="0" bIns="28800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40" b="1" kern="120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800" dirty="0"/>
              <a:t>Проанализировать структуру и объем ассигнований на указанный вид расходов в разрезе национальных проектов (за 1 год)</a:t>
            </a:r>
          </a:p>
          <a:p>
            <a:endParaRPr lang="ru-RU" dirty="0"/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7F228C96-7B0A-B293-1354-32E31EB0A9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427939"/>
              </p:ext>
            </p:extLst>
          </p:nvPr>
        </p:nvGraphicFramePr>
        <p:xfrm>
          <a:off x="7086387" y="1375105"/>
          <a:ext cx="5017478" cy="4663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4263A3F7-1657-71A0-5E10-603B5FC94C83}"/>
              </a:ext>
            </a:extLst>
          </p:cNvPr>
          <p:cNvSpPr txBox="1">
            <a:spLocks/>
          </p:cNvSpPr>
          <p:nvPr/>
        </p:nvSpPr>
        <p:spPr>
          <a:xfrm>
            <a:off x="7509720" y="765144"/>
            <a:ext cx="2269473" cy="766395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 defTabSz="755970" rtl="0" eaLnBrk="1" latinLnBrk="0" hangingPunct="1">
              <a:lnSpc>
                <a:spcPts val="206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7985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970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95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94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92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791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589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388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Структура и объем на 2024 год</a:t>
            </a:r>
          </a:p>
        </p:txBody>
      </p:sp>
    </p:spTree>
    <p:extLst>
      <p:ext uri="{BB962C8B-B14F-4D97-AF65-F5344CB8AC3E}">
        <p14:creationId xmlns:p14="http://schemas.microsoft.com/office/powerpoint/2010/main" val="6697537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A9DFE6-2123-0D4F-8998-DA2E1DC6B50D}"/>
              </a:ext>
            </a:extLst>
          </p:cNvPr>
          <p:cNvSpPr txBox="1"/>
          <p:nvPr/>
        </p:nvSpPr>
        <p:spPr>
          <a:xfrm>
            <a:off x="7975963" y="846795"/>
            <a:ext cx="2652453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304,42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Мелкий текст с описанием 17 pt…">
            <a:extLst>
              <a:ext uri="{FF2B5EF4-FFF2-40B4-BE49-F238E27FC236}">
                <a16:creationId xmlns:a16="http://schemas.microsoft.com/office/drawing/2014/main" id="{8B95037C-69DF-6840-8CB8-412B02BB2C33}"/>
              </a:ext>
            </a:extLst>
          </p:cNvPr>
          <p:cNvSpPr txBox="1"/>
          <p:nvPr/>
        </p:nvSpPr>
        <p:spPr>
          <a:xfrm>
            <a:off x="7977406" y="1617922"/>
            <a:ext cx="2768209" cy="19453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179"/>
              </a:lnSpc>
            </a:pPr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Общее снижение за 2 года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4F2D-5211-1844-B497-9F6DCA74BD00}"/>
              </a:ext>
            </a:extLst>
          </p:cNvPr>
          <p:cNvSpPr txBox="1"/>
          <p:nvPr/>
        </p:nvSpPr>
        <p:spPr>
          <a:xfrm>
            <a:off x="7977406" y="2360308"/>
            <a:ext cx="3648537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38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%</a:t>
            </a:r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 </a:t>
            </a:r>
            <a:r>
              <a:rPr lang="ru-RU" sz="2800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(7,62)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7CE38-622E-B746-A0C0-ABF28843517B}"/>
              </a:ext>
            </a:extLst>
          </p:cNvPr>
          <p:cNvSpPr txBox="1"/>
          <p:nvPr/>
        </p:nvSpPr>
        <p:spPr>
          <a:xfrm>
            <a:off x="7975963" y="3866488"/>
            <a:ext cx="3056214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↓ на 99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%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Мелкий текст с описанием 17 pt…">
            <a:extLst>
              <a:ext uri="{FF2B5EF4-FFF2-40B4-BE49-F238E27FC236}">
                <a16:creationId xmlns:a16="http://schemas.microsoft.com/office/drawing/2014/main" id="{EC39EB1E-AB30-694C-98EF-F7F6F9457AF9}"/>
              </a:ext>
            </a:extLst>
          </p:cNvPr>
          <p:cNvSpPr txBox="1"/>
          <p:nvPr/>
        </p:nvSpPr>
        <p:spPr>
          <a:xfrm>
            <a:off x="7975964" y="3097937"/>
            <a:ext cx="2768209" cy="3975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379"/>
              </a:lnSpc>
            </a:pPr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Рост процентов и пеней по акцизам в 2022 году</a:t>
            </a:r>
          </a:p>
        </p:txBody>
      </p:sp>
      <p:sp>
        <p:nvSpPr>
          <p:cNvPr id="12" name="Мелкий текст с описанием 17 pt…">
            <a:extLst>
              <a:ext uri="{FF2B5EF4-FFF2-40B4-BE49-F238E27FC236}">
                <a16:creationId xmlns:a16="http://schemas.microsoft.com/office/drawing/2014/main" id="{144E2C23-A065-D149-94A7-983F1BD164D0}"/>
              </a:ext>
            </a:extLst>
          </p:cNvPr>
          <p:cNvSpPr txBox="1"/>
          <p:nvPr/>
        </p:nvSpPr>
        <p:spPr>
          <a:xfrm>
            <a:off x="7975964" y="4569631"/>
            <a:ext cx="2768209" cy="57707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379"/>
              </a:lnSpc>
            </a:pPr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В 2023 году объемы категории пеней и процентов по акцизам снизился до 7312,9 рублей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C171518-51B9-28C3-D08E-7BD46272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034827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/>
              <a:t>2.  Рассмотреть динамику и объем поступлений по акцизам на спиртосодержащую продукцию за 3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CBFBC284-2882-A036-590A-A4C0941D96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9308117"/>
              </p:ext>
            </p:extLst>
          </p:nvPr>
        </p:nvGraphicFramePr>
        <p:xfrm>
          <a:off x="0" y="1268452"/>
          <a:ext cx="7315199" cy="4431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6421244-DFED-973F-1146-584EE737C140}"/>
              </a:ext>
            </a:extLst>
          </p:cNvPr>
          <p:cNvSpPr/>
          <p:nvPr/>
        </p:nvSpPr>
        <p:spPr>
          <a:xfrm>
            <a:off x="280373" y="6041965"/>
            <a:ext cx="1942198" cy="169277"/>
          </a:xfrm>
          <a:prstGeom prst="rect">
            <a:avLst/>
          </a:prstGeom>
        </p:spPr>
        <p:txBody>
          <a:bodyPr wrap="none" lIns="0" tIns="0" bIns="0" anchor="b">
            <a:spAutoFit/>
          </a:bodyPr>
          <a:lstStyle/>
          <a:p>
            <a:r>
              <a:rPr lang="en-US" sz="1100" dirty="0">
                <a:solidFill>
                  <a:srgbClr val="005B7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</a:t>
            </a:r>
            <a:r>
              <a:rPr lang="ru-RU" sz="1100" dirty="0">
                <a:solidFill>
                  <a:srgbClr val="005B7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Из федерального бюджета</a:t>
            </a:r>
          </a:p>
        </p:txBody>
      </p:sp>
    </p:spTree>
    <p:extLst>
      <p:ext uri="{BB962C8B-B14F-4D97-AF65-F5344CB8AC3E}">
        <p14:creationId xmlns:p14="http://schemas.microsoft.com/office/powerpoint/2010/main" val="1132557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D29B-8B71-B7EE-FF3D-7AAFD27A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D4B854-7758-8ECB-4457-19397B088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23" y="1086160"/>
            <a:ext cx="8847536" cy="5450198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C485237-CED8-2658-26EB-FE292700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196770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/>
              <a:t>2.  Рассмотреть динамику и объем поступлений по акцизам на спиртосодержащую продукцию за 3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0651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A9DFE6-2123-0D4F-8998-DA2E1DC6B50D}"/>
              </a:ext>
            </a:extLst>
          </p:cNvPr>
          <p:cNvSpPr txBox="1"/>
          <p:nvPr/>
        </p:nvSpPr>
        <p:spPr>
          <a:xfrm>
            <a:off x="7772763" y="1727328"/>
            <a:ext cx="2979904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1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9</a:t>
            </a:r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,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4</a:t>
            </a:r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2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%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Мелкий текст с описанием 17 pt…">
            <a:extLst>
              <a:ext uri="{FF2B5EF4-FFF2-40B4-BE49-F238E27FC236}">
                <a16:creationId xmlns:a16="http://schemas.microsoft.com/office/drawing/2014/main" id="{8B95037C-69DF-6840-8CB8-412B02BB2C33}"/>
              </a:ext>
            </a:extLst>
          </p:cNvPr>
          <p:cNvSpPr txBox="1"/>
          <p:nvPr/>
        </p:nvSpPr>
        <p:spPr>
          <a:xfrm>
            <a:off x="7774206" y="2498455"/>
            <a:ext cx="2766767" cy="19235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179"/>
              </a:lnSpc>
            </a:pPr>
            <a:r>
              <a:rPr lang="ru-RU" sz="12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Средний темп прироста расходов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4F2D-5211-1844-B497-9F6DCA74BD00}"/>
              </a:ext>
            </a:extLst>
          </p:cNvPr>
          <p:cNvSpPr txBox="1"/>
          <p:nvPr/>
        </p:nvSpPr>
        <p:spPr>
          <a:xfrm>
            <a:off x="7774206" y="3240841"/>
            <a:ext cx="2964964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33,59%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Мелкий текст с описанием 17 pt…">
            <a:extLst>
              <a:ext uri="{FF2B5EF4-FFF2-40B4-BE49-F238E27FC236}">
                <a16:creationId xmlns:a16="http://schemas.microsoft.com/office/drawing/2014/main" id="{EC39EB1E-AB30-694C-98EF-F7F6F9457AF9}"/>
              </a:ext>
            </a:extLst>
          </p:cNvPr>
          <p:cNvSpPr txBox="1"/>
          <p:nvPr/>
        </p:nvSpPr>
        <p:spPr>
          <a:xfrm>
            <a:off x="7772764" y="3978470"/>
            <a:ext cx="2768209" cy="19235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179"/>
              </a:lnSpc>
            </a:pPr>
            <a:r>
              <a:rPr lang="ru-RU" sz="12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Средний темп прироста доходов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63609DD-26D2-A75D-BA80-4E1A9339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196770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3. Составить структуру  доходов и расходов бюджета г. Черноголовка за три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2E3007F4-4075-4A40-41A5-A2A4BC0EC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3014077"/>
              </p:ext>
            </p:extLst>
          </p:nvPr>
        </p:nvGraphicFramePr>
        <p:xfrm>
          <a:off x="93785" y="1109472"/>
          <a:ext cx="6939278" cy="2476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89BC4CB6-97FA-9773-A735-C8C7DA9084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3125241"/>
              </p:ext>
            </p:extLst>
          </p:nvPr>
        </p:nvGraphicFramePr>
        <p:xfrm>
          <a:off x="0" y="3866488"/>
          <a:ext cx="7033063" cy="2991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614654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F7CE6912-01BA-3F0F-29E7-FBE2E9DADF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22771" y="1651093"/>
            <a:ext cx="3966996" cy="3851907"/>
          </a:xfrm>
        </p:spPr>
        <p:txBody>
          <a:bodyPr>
            <a:normAutofit/>
          </a:bodyPr>
          <a:lstStyle/>
          <a:p>
            <a:pPr>
              <a:buClr>
                <a:srgbClr val="FFB88C"/>
              </a:buClr>
              <a:buFont typeface="Wingdings" pitchFamily="2" charset="2"/>
              <a:buChar char="§"/>
            </a:pPr>
            <a:r>
              <a:rPr lang="ru-RU" sz="1200" dirty="0"/>
              <a:t>Приоритетными направлениями на протяжении 3 лет в структуре Черноголовки являются Образование, Жилищно-коммунальное хозяйство и Общегосударственные вопросы</a:t>
            </a:r>
          </a:p>
          <a:p>
            <a:pPr>
              <a:buClr>
                <a:srgbClr val="FFB88C"/>
              </a:buClr>
              <a:buFont typeface="Wingdings" pitchFamily="2" charset="2"/>
              <a:buChar char="§"/>
            </a:pPr>
            <a:r>
              <a:rPr lang="ru-RU" sz="1200" dirty="0"/>
              <a:t>За 3 года в категории Физической культуры и спорт выросла доля финансирования в 5 раз</a:t>
            </a:r>
          </a:p>
          <a:p>
            <a:pPr>
              <a:buClr>
                <a:srgbClr val="FFB88C"/>
              </a:buClr>
              <a:buFont typeface="Wingdings" pitchFamily="2" charset="2"/>
              <a:buChar char="§"/>
            </a:pPr>
            <a:r>
              <a:rPr lang="ru-RU" sz="1200" dirty="0"/>
              <a:t>На категории Средства массовой информации и Охрана окружающей среды приходятся минимальные доли финансирования </a:t>
            </a:r>
          </a:p>
          <a:p>
            <a:pPr>
              <a:buClr>
                <a:srgbClr val="FFB88C"/>
              </a:buClr>
              <a:buFont typeface="Wingdings" pitchFamily="2" charset="2"/>
              <a:buChar char="§"/>
            </a:pPr>
            <a:endParaRPr lang="ru-RU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2A1902E-1D44-EE53-5A3E-BBA63E70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196770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3. Составить структуру  доходов и расходов бюджета г. Черноголовка за три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F1E6033-9EBF-78E8-95AC-2FFBBAF0F7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106262"/>
              </p:ext>
            </p:extLst>
          </p:nvPr>
        </p:nvGraphicFramePr>
        <p:xfrm>
          <a:off x="406399" y="1246231"/>
          <a:ext cx="7196770" cy="5288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024172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493</Words>
  <Application>Microsoft Macintosh PowerPoint</Application>
  <PresentationFormat>Широкоэкранный</PresentationFormat>
  <Paragraphs>111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Times New Roman</vt:lpstr>
      <vt:lpstr>Verdana</vt:lpstr>
      <vt:lpstr>Wingdings</vt:lpstr>
      <vt:lpstr>Тема Office</vt:lpstr>
      <vt:lpstr>Задание по  Бюджету</vt:lpstr>
      <vt:lpstr>Презентация PowerPoint</vt:lpstr>
      <vt:lpstr>Презентация PowerPoint</vt:lpstr>
      <vt:lpstr>2.  Рассмотреть динамику и объем поступлений по акцизам на спиртосодержащую продукцию за 3 года</vt:lpstr>
      <vt:lpstr>2.  Рассмотреть динамику и объем поступлений по акцизам на спиртосодержащую продукцию за 3 года</vt:lpstr>
      <vt:lpstr>3. Составить структуру  доходов и расходов бюджета г. Черноголовка за три года</vt:lpstr>
      <vt:lpstr>3. Составить структуру  доходов и расходов бюджета г. Черноголовка за три года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matzur.lina@yandex.ru</dc:creator>
  <cp:lastModifiedBy>matzur.lina@yandex.ru</cp:lastModifiedBy>
  <cp:revision>4</cp:revision>
  <dcterms:created xsi:type="dcterms:W3CDTF">2025-10-24T11:32:03Z</dcterms:created>
  <dcterms:modified xsi:type="dcterms:W3CDTF">2025-11-09T14:23:05Z</dcterms:modified>
</cp:coreProperties>
</file>