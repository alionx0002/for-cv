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  <p:sldMasterId id="2147483666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29A677-B01E-4934-84F3-7FE410150E91}">
  <a:tblStyle styleId="{E829A677-B01E-4934-84F3-7FE410150E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314DE9A-B27A-4F48-8C0F-8890884A885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/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c67822c8e_2_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g3ac67822c8e_2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c67822c8e_2_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3ac67822c8e_2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3909693e7_1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3b3909693e7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350d83d69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g3b350d83d6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350d83d69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g3b350d83d6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350d83d69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g3b350d83d6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350d83d69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g3b350d83d6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3869e7acd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g3b3869e7ac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b3869e7acd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g3b3869e7acd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350d83d69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g3b350d83d6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c67822c8e_2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g3ac67822c8e_2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 descr="A blue circle with white 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394" y="721630"/>
            <a:ext cx="664874" cy="664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4"/>
          <p:cNvCxnSpPr/>
          <p:nvPr/>
        </p:nvCxnSpPr>
        <p:spPr>
          <a:xfrm>
            <a:off x="4567659" y="739002"/>
            <a:ext cx="0" cy="63013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" name="Google Shape;59;p14"/>
          <p:cNvCxnSpPr/>
          <p:nvPr/>
        </p:nvCxnSpPr>
        <p:spPr>
          <a:xfrm>
            <a:off x="6481936" y="739002"/>
            <a:ext cx="0" cy="63013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0" name="Google Shape;60;p14"/>
          <p:cNvCxnSpPr/>
          <p:nvPr/>
        </p:nvCxnSpPr>
        <p:spPr>
          <a:xfrm>
            <a:off x="8384285" y="739002"/>
            <a:ext cx="0" cy="630130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770975" y="1803503"/>
            <a:ext cx="5725544" cy="148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sz="3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1556210" y="890881"/>
            <a:ext cx="2886538" cy="326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2"/>
          </p:nvPr>
        </p:nvSpPr>
        <p:spPr>
          <a:xfrm>
            <a:off x="4694565" y="880372"/>
            <a:ext cx="1708547" cy="3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  <a:defRPr sz="9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3"/>
          </p:nvPr>
        </p:nvSpPr>
        <p:spPr>
          <a:xfrm>
            <a:off x="6590040" y="880372"/>
            <a:ext cx="1663304" cy="3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  <a:defRPr sz="9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4"/>
          </p:nvPr>
        </p:nvSpPr>
        <p:spPr>
          <a:xfrm>
            <a:off x="770975" y="3618685"/>
            <a:ext cx="5718950" cy="489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5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" name="Google Shape;69;p15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" name="Google Shape;70;p15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" name="Google Shape;71;p15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ru" sz="15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15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2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3"/>
          </p:nvPr>
        </p:nvSpPr>
        <p:spPr>
          <a:xfrm>
            <a:off x="439423" y="1784747"/>
            <a:ext cx="8293478" cy="2808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4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чистый">
  <p:cSld name="чистый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rgbClr val="0A204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83107" y="1982857"/>
            <a:ext cx="1177787" cy="1177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7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4" name="Google Shape;84;p17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5" name="Google Shape;85;p17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6" name="Google Shape;86;p17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ru" sz="15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17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2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3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4"/>
          </p:nvPr>
        </p:nvSpPr>
        <p:spPr>
          <a:xfrm>
            <a:off x="439423" y="3887437"/>
            <a:ext cx="2950759" cy="4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>
            <a:spLocks noGrp="1"/>
          </p:cNvSpPr>
          <p:nvPr>
            <p:ph type="chart" idx="5"/>
          </p:nvPr>
        </p:nvSpPr>
        <p:spPr>
          <a:xfrm>
            <a:off x="3954073" y="1085843"/>
            <a:ext cx="4778826" cy="3217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6"/>
          </p:nvPr>
        </p:nvSpPr>
        <p:spPr>
          <a:xfrm>
            <a:off x="439341" y="1085298"/>
            <a:ext cx="3242072" cy="527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200"/>
              <a:buNone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0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1200"/>
              <a:buChar char="•"/>
              <a:defRPr sz="12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7"/>
          </p:nvPr>
        </p:nvSpPr>
        <p:spPr>
          <a:xfrm>
            <a:off x="439424" y="1784747"/>
            <a:ext cx="3241898" cy="179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8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8" name="Google Shape;98;p18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9" name="Google Shape;99;p18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0" name="Google Shape;100;p18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ru" sz="15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18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" name="Google Shape;102;p18"/>
          <p:cNvSpPr txBox="1">
            <a:spLocks noGrp="1"/>
          </p:cNvSpPr>
          <p:nvPr>
            <p:ph type="body" idx="1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2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3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439423" y="1085843"/>
            <a:ext cx="8293466" cy="58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4"/>
          </p:nvPr>
        </p:nvSpPr>
        <p:spPr>
          <a:xfrm>
            <a:off x="431307" y="3077996"/>
            <a:ext cx="2068607" cy="1177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5"/>
          </p:nvPr>
        </p:nvSpPr>
        <p:spPr>
          <a:xfrm>
            <a:off x="3035255" y="3077996"/>
            <a:ext cx="2068209" cy="1177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6"/>
          </p:nvPr>
        </p:nvSpPr>
        <p:spPr>
          <a:xfrm>
            <a:off x="5639204" y="3077996"/>
            <a:ext cx="2068209" cy="1177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7"/>
          </p:nvPr>
        </p:nvSpPr>
        <p:spPr>
          <a:xfrm>
            <a:off x="431307" y="2032676"/>
            <a:ext cx="2068607" cy="8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>
                <a:latin typeface="Arial"/>
                <a:ea typeface="Arial"/>
                <a:cs typeface="Arial"/>
                <a:sym typeface="Arial"/>
              </a:defRPr>
            </a:lvl1pPr>
            <a:lvl2pPr marL="914400" lvl="1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8"/>
          </p:nvPr>
        </p:nvSpPr>
        <p:spPr>
          <a:xfrm>
            <a:off x="3035255" y="2032676"/>
            <a:ext cx="2068607" cy="8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>
                <a:latin typeface="Arial"/>
                <a:ea typeface="Arial"/>
                <a:cs typeface="Arial"/>
                <a:sym typeface="Arial"/>
              </a:defRPr>
            </a:lvl1pPr>
            <a:lvl2pPr marL="914400" lvl="1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body" idx="9"/>
          </p:nvPr>
        </p:nvSpPr>
        <p:spPr>
          <a:xfrm>
            <a:off x="5639204" y="2032676"/>
            <a:ext cx="2068607" cy="8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>
                <a:latin typeface="Arial"/>
                <a:ea typeface="Arial"/>
                <a:cs typeface="Arial"/>
                <a:sym typeface="Arial"/>
              </a:defRPr>
            </a:lvl1pPr>
            <a:lvl2pPr marL="914400" lvl="1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2pPr>
            <a:lvl3pPr marL="1371600" lvl="2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4pPr>
            <a:lvl5pPr marL="2286000" lvl="4" indent="-685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7899" y="348272"/>
            <a:ext cx="336207" cy="336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19"/>
          <p:cNvCxnSpPr/>
          <p:nvPr/>
        </p:nvCxnSpPr>
        <p:spPr>
          <a:xfrm>
            <a:off x="2474015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5" name="Google Shape;115;p19"/>
          <p:cNvCxnSpPr/>
          <p:nvPr/>
        </p:nvCxnSpPr>
        <p:spPr>
          <a:xfrm>
            <a:off x="4574562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6" name="Google Shape;116;p19"/>
          <p:cNvCxnSpPr/>
          <p:nvPr/>
        </p:nvCxnSpPr>
        <p:spPr>
          <a:xfrm>
            <a:off x="770781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/>
          <p:cNvSpPr txBox="1"/>
          <p:nvPr/>
        </p:nvSpPr>
        <p:spPr>
          <a:xfrm>
            <a:off x="7807651" y="399208"/>
            <a:ext cx="503983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fld id="{00000000-1234-1234-1234-123412341234}" type="slidenum">
              <a:rPr lang="ru" sz="1500" b="0" i="0" u="none" strike="noStrike" cap="non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500" b="0" i="0" u="none" strike="noStrike" cap="none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p19"/>
          <p:cNvCxnSpPr/>
          <p:nvPr/>
        </p:nvCxnSpPr>
        <p:spPr>
          <a:xfrm>
            <a:off x="8732901" y="348272"/>
            <a:ext cx="0" cy="439695"/>
          </a:xfrm>
          <a:prstGeom prst="straightConnector1">
            <a:avLst/>
          </a:prstGeom>
          <a:noFill/>
          <a:ln w="12700" cap="flat" cmpd="sng">
            <a:solidFill>
              <a:srgbClr val="102D6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9" name="Google Shape;119;p19"/>
          <p:cNvSpPr txBox="1">
            <a:spLocks noGrp="1"/>
          </p:cNvSpPr>
          <p:nvPr>
            <p:ph type="body" idx="1"/>
          </p:nvPr>
        </p:nvSpPr>
        <p:spPr>
          <a:xfrm>
            <a:off x="857767" y="405678"/>
            <a:ext cx="1426369" cy="311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2"/>
          </p:nvPr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3"/>
          </p:nvPr>
        </p:nvSpPr>
        <p:spPr>
          <a:xfrm>
            <a:off x="4694919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  <a:defRPr sz="8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439424" y="1085843"/>
            <a:ext cx="3241898" cy="582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4"/>
          </p:nvPr>
        </p:nvSpPr>
        <p:spPr>
          <a:xfrm>
            <a:off x="439424" y="1784747"/>
            <a:ext cx="3241898" cy="1799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sz="1000" b="0" i="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4044736" y="1085843"/>
            <a:ext cx="623248" cy="623248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5057194" y="1085843"/>
            <a:ext cx="623248" cy="623248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6069651" y="1085843"/>
            <a:ext cx="623248" cy="623248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7082108" y="1085843"/>
            <a:ext cx="623248" cy="623248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8094566" y="1085843"/>
            <a:ext cx="623248" cy="623248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4044736" y="2031524"/>
            <a:ext cx="623248" cy="623248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5057194" y="2031524"/>
            <a:ext cx="623248" cy="623248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6069651" y="2031524"/>
            <a:ext cx="623248" cy="623248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7082108" y="2031524"/>
            <a:ext cx="623248" cy="623248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8094566" y="2031524"/>
            <a:ext cx="623248" cy="623248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4044736" y="2977207"/>
            <a:ext cx="623248" cy="623248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5057194" y="2977207"/>
            <a:ext cx="623248" cy="623248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6069651" y="2977207"/>
            <a:ext cx="623248" cy="623248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7082108" y="2977207"/>
            <a:ext cx="623248" cy="623248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8094566" y="2977207"/>
            <a:ext cx="623248" cy="623248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044736" y="3937327"/>
            <a:ext cx="623248" cy="623248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5057194" y="3937327"/>
            <a:ext cx="623248" cy="623248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6069651" y="3937327"/>
            <a:ext cx="623248" cy="623248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7082108" y="3937327"/>
            <a:ext cx="623248" cy="623248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8094566" y="3937327"/>
            <a:ext cx="623248" cy="623248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body" idx="1"/>
          </p:nvPr>
        </p:nvSpPr>
        <p:spPr>
          <a:xfrm>
            <a:off x="1556210" y="890881"/>
            <a:ext cx="2886538" cy="326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ru"/>
              <a:t>Факультет экономических наук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body" idx="2"/>
          </p:nvPr>
        </p:nvSpPr>
        <p:spPr>
          <a:xfrm>
            <a:off x="4694565" y="880372"/>
            <a:ext cx="1708547" cy="3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/>
              <a:t>Департамент прикладной экономики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body" idx="3"/>
          </p:nvPr>
        </p:nvSpPr>
        <p:spPr>
          <a:xfrm>
            <a:off x="6590040" y="880372"/>
            <a:ext cx="1663304" cy="3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/>
              <a:t>Москва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/>
              <a:t>2025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body" idx="4"/>
          </p:nvPr>
        </p:nvSpPr>
        <p:spPr>
          <a:xfrm>
            <a:off x="677125" y="3195300"/>
            <a:ext cx="2572500" cy="10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ru" sz="1500" b="1" dirty="0"/>
              <a:t>Мацур Алина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dirty="0"/>
          </a:p>
        </p:txBody>
      </p:sp>
      <p:sp>
        <p:nvSpPr>
          <p:cNvPr id="152" name="Google Shape;152;p20"/>
          <p:cNvSpPr txBox="1">
            <a:spLocks noGrp="1"/>
          </p:cNvSpPr>
          <p:nvPr>
            <p:ph type="title"/>
          </p:nvPr>
        </p:nvSpPr>
        <p:spPr>
          <a:xfrm>
            <a:off x="692400" y="1585411"/>
            <a:ext cx="7759200" cy="14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ct val="100000"/>
              <a:buFont typeface="Arial"/>
              <a:buNone/>
            </a:pPr>
            <a:r>
              <a:rPr lang="ru" b="1"/>
              <a:t>Разработка мер по уменьшению разрыва регионов по показателю Уровень бюджетной обеспеченности</a:t>
            </a:r>
            <a:br>
              <a:rPr lang="ru"/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>
            <a:spLocks noGrp="1"/>
          </p:cNvSpPr>
          <p:nvPr>
            <p:ph type="body" idx="2"/>
          </p:nvPr>
        </p:nvSpPr>
        <p:spPr>
          <a:xfrm>
            <a:off x="939967" y="408612"/>
            <a:ext cx="1426275" cy="31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 sz="1000"/>
              <a:t>НИУ ВШЭ ФЭН</a:t>
            </a:r>
            <a:endParaRPr sz="1000"/>
          </a:p>
        </p:txBody>
      </p:sp>
      <p:sp>
        <p:nvSpPr>
          <p:cNvPr id="158" name="Google Shape;158;p21"/>
          <p:cNvSpPr txBox="1">
            <a:spLocks noGrp="1"/>
          </p:cNvSpPr>
          <p:nvPr>
            <p:ph type="body" idx="4"/>
          </p:nvPr>
        </p:nvSpPr>
        <p:spPr>
          <a:xfrm>
            <a:off x="4624463" y="362869"/>
            <a:ext cx="3009600" cy="40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 sz="1200"/>
              <a:t>Уменьшение разрыва по уровню бюджетной обеспеченности регионов</a:t>
            </a:r>
            <a:endParaRPr sz="1200"/>
          </a:p>
        </p:txBody>
      </p:sp>
      <p:sp>
        <p:nvSpPr>
          <p:cNvPr id="159" name="Google Shape;159;p21"/>
          <p:cNvSpPr txBox="1"/>
          <p:nvPr/>
        </p:nvSpPr>
        <p:spPr>
          <a:xfrm>
            <a:off x="2594372" y="411540"/>
            <a:ext cx="1552575" cy="30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Департамент прикладной экономики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1133857" y="1008287"/>
            <a:ext cx="1658100" cy="6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600" tIns="74600" rIns="74600" bIns="746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1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Бюджетная обеспеченность</a:t>
            </a:r>
            <a:endParaRPr sz="17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2779615" y="1230919"/>
            <a:ext cx="383400" cy="254700"/>
          </a:xfrm>
          <a:prstGeom prst="mathEqual">
            <a:avLst>
              <a:gd name="adj1" fmla="val 18317"/>
              <a:gd name="adj2" fmla="val 13734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74600" tIns="74600" rIns="74600" bIns="746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42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3382883" y="985750"/>
            <a:ext cx="34122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600" tIns="74600" rIns="74600" bIns="74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1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Индекс налогового потенциала</a:t>
            </a:r>
            <a:endParaRPr sz="17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3449760" y="1256826"/>
            <a:ext cx="34122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600" tIns="74600" rIns="74600" bIns="746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1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Индекс бюджетных расходов</a:t>
            </a:r>
            <a:endParaRPr sz="17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21"/>
          <p:cNvCxnSpPr/>
          <p:nvPr/>
        </p:nvCxnSpPr>
        <p:spPr>
          <a:xfrm>
            <a:off x="3294623" y="1353333"/>
            <a:ext cx="3203400" cy="8700"/>
          </a:xfrm>
          <a:prstGeom prst="straightConnector1">
            <a:avLst/>
          </a:prstGeom>
          <a:noFill/>
          <a:ln w="310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5" name="Google Shape;165;p21"/>
          <p:cNvGraphicFramePr/>
          <p:nvPr/>
        </p:nvGraphicFramePr>
        <p:xfrm>
          <a:off x="623060" y="2404318"/>
          <a:ext cx="3633250" cy="2392400"/>
        </p:xfrm>
        <a:graphic>
          <a:graphicData uri="http://schemas.openxmlformats.org/drawingml/2006/table">
            <a:tbl>
              <a:tblPr>
                <a:noFill/>
                <a:tableStyleId>{E829A677-B01E-4934-84F3-7FE410150E91}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Федеральная территория "Сириус"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7,84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Ямало-Ненецкий авт. округ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2,70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г. Москва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2,42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Сахалинская область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2,07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Тюменская область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2,00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г. Санкт-Петербург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1,95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Ханты-Мансийский авт. округ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1,73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Ленинградская область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1,38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66" name="Google Shape;166;p21"/>
          <p:cNvGraphicFramePr/>
          <p:nvPr/>
        </p:nvGraphicFramePr>
        <p:xfrm>
          <a:off x="4978800" y="2418947"/>
          <a:ext cx="3643200" cy="2523120"/>
        </p:xfrm>
        <a:graphic>
          <a:graphicData uri="http://schemas.openxmlformats.org/drawingml/2006/table">
            <a:tbl>
              <a:tblPr>
                <a:noFill/>
                <a:tableStyleId>{E829A677-B01E-4934-84F3-7FE410150E91}</a:tableStyleId>
              </a:tblPr>
              <a:tblGrid>
                <a:gridCol w="38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9050">
                <a:tc>
                  <a:txBody>
                    <a:bodyPr/>
                    <a:lstStyle/>
                    <a:p>
                      <a:pPr marL="25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2C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Кабардино-Балкарская Респ.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0" marB="90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marR="14400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2C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0,63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pPr marL="25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2C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Республика Ингушетия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0" marB="90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marR="14400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2C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0,64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pPr marL="25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2C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Республика Дагестан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0" marB="90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marR="14400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2C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0,65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pPr marL="25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Чукотский авт. округ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marR="14400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2C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0,66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pPr marL="25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2C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Камчатский край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0" marB="90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marR="14400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2C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0,67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pPr marL="25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2C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Чеченская Республика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0" marB="90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marR="14400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2C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0,67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pPr marL="25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2C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Карачаево-Черкесская Респ.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0" marB="90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marR="14400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2C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0,67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050">
                <a:tc>
                  <a:txBody>
                    <a:bodyPr/>
                    <a:lstStyle/>
                    <a:p>
                      <a:pPr marL="25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3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18000" marB="18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2C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Республика Бурятия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0" marB="90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5200" marR="14400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2C6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0,69</a:t>
                      </a:r>
                      <a:endParaRPr sz="1300">
                        <a:solidFill>
                          <a:srgbClr val="0F2C6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7" name="Google Shape;167;p21"/>
          <p:cNvSpPr txBox="1"/>
          <p:nvPr/>
        </p:nvSpPr>
        <p:spPr>
          <a:xfrm>
            <a:off x="1171905" y="1978271"/>
            <a:ext cx="22359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600" tIns="74600" rIns="74600" bIns="746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1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ТОП - Лидеры, 2025г</a:t>
            </a:r>
            <a:endParaRPr sz="17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5454985" y="1975043"/>
            <a:ext cx="28323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600" tIns="74600" rIns="74600" bIns="746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1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ТОП - Аутсайдеры, 2025г</a:t>
            </a:r>
            <a:endParaRPr sz="17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965270" y="935648"/>
            <a:ext cx="5789400" cy="819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6795095" y="869373"/>
            <a:ext cx="1324800" cy="9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600" tIns="74600" rIns="74600" bIns="746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13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1,3</a:t>
            </a:r>
            <a:endParaRPr sz="1713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13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1</a:t>
            </a:r>
            <a:endParaRPr sz="1713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713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 1</a:t>
            </a:r>
            <a:endParaRPr sz="1713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7014923" y="876723"/>
            <a:ext cx="1119900" cy="905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6923" y="905423"/>
            <a:ext cx="306075" cy="30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6923" y="1186198"/>
            <a:ext cx="306075" cy="30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6923" y="1460223"/>
            <a:ext cx="306075" cy="3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>
            <a:spLocks noGrp="1"/>
          </p:cNvSpPr>
          <p:nvPr>
            <p:ph type="body" idx="2"/>
          </p:nvPr>
        </p:nvSpPr>
        <p:spPr>
          <a:xfrm>
            <a:off x="939967" y="408612"/>
            <a:ext cx="14262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 sz="1000"/>
              <a:t>НИУ ВШЭ ФЭН</a:t>
            </a:r>
            <a:endParaRPr sz="1000"/>
          </a:p>
        </p:txBody>
      </p:sp>
      <p:sp>
        <p:nvSpPr>
          <p:cNvPr id="180" name="Google Shape;180;p22"/>
          <p:cNvSpPr txBox="1">
            <a:spLocks noGrp="1"/>
          </p:cNvSpPr>
          <p:nvPr>
            <p:ph type="body" idx="4"/>
          </p:nvPr>
        </p:nvSpPr>
        <p:spPr>
          <a:xfrm>
            <a:off x="4624463" y="362869"/>
            <a:ext cx="3009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 sz="1200"/>
              <a:t>Уменьшение разрыва по уровню бюджетной обеспеченности регионов</a:t>
            </a:r>
            <a:endParaRPr sz="1200"/>
          </a:p>
        </p:txBody>
      </p:sp>
      <p:sp>
        <p:nvSpPr>
          <p:cNvPr id="181" name="Google Shape;181;p22"/>
          <p:cNvSpPr txBox="1"/>
          <p:nvPr/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Департамент прикладной экономики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050" y="816750"/>
            <a:ext cx="4503101" cy="1864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2"/>
          <p:cNvPicPr preferRelativeResize="0"/>
          <p:nvPr/>
        </p:nvPicPr>
        <p:blipFill rotWithShape="1">
          <a:blip r:embed="rId4">
            <a:alphaModFix/>
          </a:blip>
          <a:srcRect b="6733"/>
          <a:stretch/>
        </p:blipFill>
        <p:spPr>
          <a:xfrm>
            <a:off x="560800" y="2947825"/>
            <a:ext cx="3954525" cy="1864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2"/>
          <p:cNvPicPr preferRelativeResize="0"/>
          <p:nvPr/>
        </p:nvPicPr>
        <p:blipFill rotWithShape="1">
          <a:blip r:embed="rId5">
            <a:alphaModFix/>
          </a:blip>
          <a:srcRect l="1719"/>
          <a:stretch/>
        </p:blipFill>
        <p:spPr>
          <a:xfrm>
            <a:off x="4848774" y="823808"/>
            <a:ext cx="3954527" cy="1663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8774" y="3005251"/>
            <a:ext cx="3954525" cy="172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15462" y="4725775"/>
            <a:ext cx="2031187" cy="2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22425" y="4761724"/>
            <a:ext cx="2031275" cy="2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36158" y="2544313"/>
            <a:ext cx="3521455" cy="4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>
            <a:spLocks noGrp="1"/>
          </p:cNvSpPr>
          <p:nvPr>
            <p:ph type="body" idx="2"/>
          </p:nvPr>
        </p:nvSpPr>
        <p:spPr>
          <a:xfrm>
            <a:off x="939967" y="408612"/>
            <a:ext cx="14262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 sz="1000"/>
              <a:t>НИУ ВШЭ ФЭН</a:t>
            </a:r>
            <a:endParaRPr sz="1000"/>
          </a:p>
        </p:txBody>
      </p:sp>
      <p:sp>
        <p:nvSpPr>
          <p:cNvPr id="194" name="Google Shape;194;p23"/>
          <p:cNvSpPr txBox="1">
            <a:spLocks noGrp="1"/>
          </p:cNvSpPr>
          <p:nvPr>
            <p:ph type="body" idx="4"/>
          </p:nvPr>
        </p:nvSpPr>
        <p:spPr>
          <a:xfrm>
            <a:off x="4624463" y="362869"/>
            <a:ext cx="3009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 sz="1200"/>
              <a:t>Уменьшение разрыва по уровню бюджетной обеспеченности регионов</a:t>
            </a:r>
            <a:endParaRPr sz="1200"/>
          </a:p>
        </p:txBody>
      </p:sp>
      <p:sp>
        <p:nvSpPr>
          <p:cNvPr id="195" name="Google Shape;195;p23"/>
          <p:cNvSpPr txBox="1"/>
          <p:nvPr/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Департамент прикладной экономики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353250" y="558414"/>
            <a:ext cx="83676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1800" b="1" dirty="0">
                <a:solidFill>
                  <a:srgbClr val="0F1115"/>
                </a:solidFill>
              </a:rPr>
              <a:t>Сохраняется</a:t>
            </a:r>
            <a:r>
              <a:rPr lang="ru" sz="1800" b="1" dirty="0">
                <a:solidFill>
                  <a:schemeClr val="dk2"/>
                </a:solidFill>
              </a:rPr>
              <a:t> </a:t>
            </a:r>
            <a:r>
              <a:rPr lang="ru" sz="1800" b="1" dirty="0">
                <a:solidFill>
                  <a:srgbClr val="234A9B"/>
                </a:solidFill>
              </a:rPr>
              <a:t>критический разрыв</a:t>
            </a:r>
            <a:r>
              <a:rPr lang="ru" sz="1800" b="1" dirty="0">
                <a:solidFill>
                  <a:schemeClr val="dk2"/>
                </a:solidFill>
              </a:rPr>
              <a:t> </a:t>
            </a:r>
            <a:r>
              <a:rPr lang="ru" sz="1800" b="1" dirty="0">
                <a:solidFill>
                  <a:srgbClr val="0F1115"/>
                </a:solidFill>
              </a:rPr>
              <a:t>в бюджетной обеспеченности регионов (до 7,8 раз) и </a:t>
            </a:r>
            <a:r>
              <a:rPr lang="ru" sz="1800" b="1" dirty="0">
                <a:solidFill>
                  <a:srgbClr val="234A9B"/>
                </a:solidFill>
              </a:rPr>
              <a:t>высокая зависимость от федеральных дотаций</a:t>
            </a:r>
            <a:endParaRPr sz="1800" b="1" dirty="0">
              <a:solidFill>
                <a:srgbClr val="234A9B"/>
              </a:solidFill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255765" y="2006628"/>
            <a:ext cx="54585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b="1"/>
              <a:t>Безвозмездные дотации на выравнивание</a:t>
            </a:r>
            <a:br>
              <a:rPr lang="ru"/>
            </a:br>
            <a:r>
              <a:rPr lang="ru" sz="1200">
                <a:solidFill>
                  <a:srgbClr val="434343"/>
                </a:solidFill>
              </a:rPr>
              <a:t>более 1,2 трлн руб., 70+ регионов</a:t>
            </a:r>
            <a:endParaRPr sz="1200">
              <a:solidFill>
                <a:srgbClr val="434343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b="1"/>
              <a:t>Целевые субсидии и субвенции</a:t>
            </a:r>
            <a:br>
              <a:rPr lang="ru"/>
            </a:br>
            <a:r>
              <a:rPr lang="ru" sz="1200">
                <a:solidFill>
                  <a:srgbClr val="434343"/>
                </a:solidFill>
              </a:rPr>
              <a:t>около 30,7 трлн руб</a:t>
            </a:r>
            <a:endParaRPr sz="1200">
              <a:solidFill>
                <a:srgbClr val="434343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b="1"/>
              <a:t>Особые экономические зоны</a:t>
            </a:r>
            <a:br>
              <a:rPr lang="ru"/>
            </a:br>
            <a:r>
              <a:rPr lang="ru" sz="1200">
                <a:solidFill>
                  <a:srgbClr val="434343"/>
                </a:solidFill>
              </a:rPr>
              <a:t>налог на прибыль 2%, нулевые имущественные налоги</a:t>
            </a:r>
            <a:endParaRPr sz="1200">
              <a:solidFill>
                <a:srgbClr val="434343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b="1"/>
              <a:t>Специальные инвестиционные контракты</a:t>
            </a:r>
            <a:br>
              <a:rPr lang="ru" b="1"/>
            </a:br>
            <a:r>
              <a:rPr lang="ru" sz="1200">
                <a:solidFill>
                  <a:srgbClr val="434343"/>
                </a:solidFill>
              </a:rPr>
              <a:t>от 750 млн руб., льготы на 10 лет</a:t>
            </a:r>
            <a:endParaRPr sz="13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b="1"/>
              <a:t>Международные территории опережающего развития</a:t>
            </a:r>
            <a:br>
              <a:rPr lang="ru" b="1"/>
            </a:br>
            <a:r>
              <a:rPr lang="ru" sz="1200">
                <a:solidFill>
                  <a:srgbClr val="434343"/>
                </a:solidFill>
              </a:rPr>
              <a:t>нулевая ставка налога на прибыль, страховые взносы – 7,6%</a:t>
            </a:r>
            <a:endParaRPr sz="1200">
              <a:solidFill>
                <a:srgbClr val="434343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b="1"/>
              <a:t>Финансирование в рамках национальных проектов</a:t>
            </a:r>
            <a:br>
              <a:rPr lang="ru" b="1"/>
            </a:br>
            <a:r>
              <a:rPr lang="ru" sz="1200">
                <a:solidFill>
                  <a:srgbClr val="434343"/>
                </a:solidFill>
              </a:rPr>
              <a:t>более 1,5 трлн руб. в 2025 г.</a:t>
            </a:r>
            <a:endParaRPr sz="1200">
              <a:solidFill>
                <a:srgbClr val="434343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ru" b="1"/>
              <a:t>Особый налоговый и бюджетный режим </a:t>
            </a:r>
            <a:br>
              <a:rPr lang="ru"/>
            </a:br>
            <a:r>
              <a:rPr lang="ru" sz="1200">
                <a:solidFill>
                  <a:srgbClr val="434343"/>
                </a:solidFill>
              </a:rPr>
              <a:t>для новых субъектов РФ – более 350 млрд руб.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431300" y="1673750"/>
            <a:ext cx="5229300" cy="3060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chemeClr val="lt1"/>
                </a:solidFill>
              </a:rPr>
              <a:t>ОСНОВНЫЕ МЕРЫ НА 2025 Г.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5789550" y="1693075"/>
            <a:ext cx="2931300" cy="1321500"/>
          </a:xfrm>
          <a:prstGeom prst="roundRect">
            <a:avLst>
              <a:gd name="adj" fmla="val 4875"/>
            </a:avLst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/>
              <a:t>Но проблема сохраняется: 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существующая система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не решает главную задачу 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— переход регионов </a:t>
            </a:r>
            <a:endParaRPr sz="1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к самофинансированию</a:t>
            </a:r>
            <a:endParaRPr sz="1500"/>
          </a:p>
        </p:txBody>
      </p:sp>
      <p:sp>
        <p:nvSpPr>
          <p:cNvPr id="204" name="Google Shape;204;p23"/>
          <p:cNvSpPr/>
          <p:nvPr/>
        </p:nvSpPr>
        <p:spPr>
          <a:xfrm>
            <a:off x="5789550" y="3127925"/>
            <a:ext cx="2931300" cy="1778700"/>
          </a:xfrm>
          <a:prstGeom prst="roundRect">
            <a:avLst>
              <a:gd name="adj" fmla="val 487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lt1"/>
                </a:solidFill>
              </a:rPr>
              <a:t>Необходим переход </a:t>
            </a:r>
            <a:br>
              <a:rPr lang="ru" sz="1500">
                <a:solidFill>
                  <a:schemeClr val="lt1"/>
                </a:solidFill>
              </a:rPr>
            </a:br>
            <a:r>
              <a:rPr lang="ru" sz="1500">
                <a:solidFill>
                  <a:schemeClr val="lt1"/>
                </a:solidFill>
              </a:rPr>
              <a:t>от </a:t>
            </a:r>
            <a:r>
              <a:rPr lang="ru" sz="1500" b="1">
                <a:solidFill>
                  <a:schemeClr val="lt1"/>
                </a:solidFill>
              </a:rPr>
              <a:t>выравнивания бюджетной обеспеченности</a:t>
            </a:r>
            <a:r>
              <a:rPr lang="ru" sz="1500">
                <a:solidFill>
                  <a:schemeClr val="lt1"/>
                </a:solidFill>
              </a:rPr>
              <a:t> к политике, раскрывающей внутренний экономический потенциал регионов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>
            <a:spLocks noGrp="1"/>
          </p:cNvSpPr>
          <p:nvPr>
            <p:ph type="body" idx="2"/>
          </p:nvPr>
        </p:nvSpPr>
        <p:spPr>
          <a:xfrm>
            <a:off x="939967" y="408612"/>
            <a:ext cx="14262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 sz="1000"/>
              <a:t>НИУ ВШЭ ФЭН</a:t>
            </a:r>
            <a:endParaRPr sz="1000"/>
          </a:p>
        </p:txBody>
      </p:sp>
      <p:sp>
        <p:nvSpPr>
          <p:cNvPr id="210" name="Google Shape;210;p24"/>
          <p:cNvSpPr txBox="1">
            <a:spLocks noGrp="1"/>
          </p:cNvSpPr>
          <p:nvPr>
            <p:ph type="body" idx="4"/>
          </p:nvPr>
        </p:nvSpPr>
        <p:spPr>
          <a:xfrm>
            <a:off x="4624463" y="362869"/>
            <a:ext cx="3009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 sz="1200"/>
              <a:t>Уменьшение разрыва по уровню бюджетной обеспеченности регионов</a:t>
            </a:r>
            <a:endParaRPr sz="1200"/>
          </a:p>
        </p:txBody>
      </p:sp>
      <p:sp>
        <p:nvSpPr>
          <p:cNvPr id="211" name="Google Shape;211;p24"/>
          <p:cNvSpPr txBox="1"/>
          <p:nvPr/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Департамент прикладной экономики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4"/>
          <p:cNvSpPr txBox="1"/>
          <p:nvPr/>
        </p:nvSpPr>
        <p:spPr>
          <a:xfrm>
            <a:off x="423075" y="1578469"/>
            <a:ext cx="3829500" cy="3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900" b="1" dirty="0">
                <a:solidFill>
                  <a:schemeClr val="dk1"/>
                </a:solidFill>
              </a:rPr>
              <a:t>Меры</a:t>
            </a:r>
            <a:endParaRPr sz="211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" sz="211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Целевая индустриализация</a:t>
            </a:r>
            <a:endParaRPr sz="211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127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11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Формирование зон экономического притяжения</a:t>
            </a:r>
            <a:endParaRPr sz="211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127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11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Перенос и адаптация лучших практик регионов-доноров</a:t>
            </a:r>
            <a:endParaRPr sz="211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1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4815825" y="1530766"/>
            <a:ext cx="3829500" cy="34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ru" sz="1900" b="1" dirty="0">
                <a:solidFill>
                  <a:schemeClr val="dk1"/>
                </a:solidFill>
              </a:rPr>
              <a:t>Эффекты</a:t>
            </a:r>
            <a:endParaRPr sz="211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" sz="211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Рост налоговых поступлений </a:t>
            </a:r>
            <a:r>
              <a:rPr lang="ru" sz="2113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выравнивание БО</a:t>
            </a:r>
            <a:endParaRPr sz="2113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127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11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Увеличение рабочих мест </a:t>
            </a:r>
            <a:br>
              <a:rPr lang="ru" sz="211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" sz="2113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снижение оттока населения</a:t>
            </a:r>
            <a:r>
              <a:rPr lang="ru" sz="211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11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127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11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Укрепление межрегиональных отношений</a:t>
            </a:r>
            <a:endParaRPr sz="211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1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166308" y="893454"/>
            <a:ext cx="8811384" cy="5091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chemeClr val="lt1"/>
                </a:solidFill>
              </a:rPr>
              <a:t>Цель - формирование собственной </a:t>
            </a:r>
            <a:r>
              <a:rPr lang="ru" sz="1900" b="1" dirty="0">
                <a:solidFill>
                  <a:schemeClr val="lt1"/>
                </a:solidFill>
              </a:rPr>
              <a:t>устойчивой доходной базы</a:t>
            </a:r>
            <a:r>
              <a:rPr lang="ru" sz="1900" dirty="0">
                <a:solidFill>
                  <a:schemeClr val="lt1"/>
                </a:solidFill>
              </a:rPr>
              <a:t> регионов</a:t>
            </a:r>
            <a:endParaRPr sz="19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24"/>
          <p:cNvCxnSpPr/>
          <p:nvPr/>
        </p:nvCxnSpPr>
        <p:spPr>
          <a:xfrm>
            <a:off x="4453000" y="1761350"/>
            <a:ext cx="16200" cy="2917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>
            <a:spLocks noGrp="1"/>
          </p:cNvSpPr>
          <p:nvPr>
            <p:ph type="body" idx="2"/>
          </p:nvPr>
        </p:nvSpPr>
        <p:spPr>
          <a:xfrm>
            <a:off x="939967" y="408612"/>
            <a:ext cx="14262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 sz="1000"/>
              <a:t>НИУ ВШЭ ФЭН</a:t>
            </a:r>
            <a:endParaRPr sz="1000"/>
          </a:p>
        </p:txBody>
      </p:sp>
      <p:sp>
        <p:nvSpPr>
          <p:cNvPr id="221" name="Google Shape;221;p25"/>
          <p:cNvSpPr txBox="1">
            <a:spLocks noGrp="1"/>
          </p:cNvSpPr>
          <p:nvPr>
            <p:ph type="body" idx="4"/>
          </p:nvPr>
        </p:nvSpPr>
        <p:spPr>
          <a:xfrm>
            <a:off x="4624463" y="362869"/>
            <a:ext cx="3009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 sz="1200"/>
              <a:t>Уменьшение разрыва по уровню бюджетной обеспеченности регионов</a:t>
            </a:r>
            <a:endParaRPr sz="1200"/>
          </a:p>
        </p:txBody>
      </p:sp>
      <p:sp>
        <p:nvSpPr>
          <p:cNvPr id="222" name="Google Shape;222;p25"/>
          <p:cNvSpPr txBox="1"/>
          <p:nvPr/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Департамент прикладной экономики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 txBox="1"/>
          <p:nvPr/>
        </p:nvSpPr>
        <p:spPr>
          <a:xfrm>
            <a:off x="339339" y="611200"/>
            <a:ext cx="8239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1800" b="1" dirty="0">
                <a:solidFill>
                  <a:schemeClr val="dk1"/>
                </a:solidFill>
              </a:rPr>
              <a:t>Агломерационный подход к развитию регионов</a:t>
            </a:r>
            <a:endParaRPr sz="1800" b="1" dirty="0">
              <a:solidFill>
                <a:schemeClr val="dk1"/>
              </a:solidFill>
            </a:endParaRPr>
          </a:p>
        </p:txBody>
      </p:sp>
      <p:graphicFrame>
        <p:nvGraphicFramePr>
          <p:cNvPr id="224" name="Google Shape;224;p25"/>
          <p:cNvGraphicFramePr/>
          <p:nvPr>
            <p:extLst>
              <p:ext uri="{D42A27DB-BD31-4B8C-83A1-F6EECF244321}">
                <p14:modId xmlns:p14="http://schemas.microsoft.com/office/powerpoint/2010/main" val="3085544097"/>
              </p:ext>
            </p:extLst>
          </p:nvPr>
        </p:nvGraphicFramePr>
        <p:xfrm>
          <a:off x="402947" y="1333675"/>
          <a:ext cx="8558702" cy="2534750"/>
        </p:xfrm>
        <a:graphic>
          <a:graphicData uri="http://schemas.openxmlformats.org/drawingml/2006/table">
            <a:tbl>
              <a:tblPr>
                <a:noFill/>
                <a:tableStyleId>{1314DE9A-B27A-4F48-8C0F-8890884A8857}</a:tableStyleId>
              </a:tblPr>
              <a:tblGrid>
                <a:gridCol w="2048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1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9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5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0F1115"/>
                          </a:solidFill>
                        </a:rPr>
                        <a:t>Поволжско-Уральский автопромышленный хаб</a:t>
                      </a:r>
                      <a:endParaRPr sz="1300" b="1">
                        <a:solidFill>
                          <a:srgbClr val="0F1115"/>
                        </a:solidFill>
                      </a:endParaRPr>
                    </a:p>
                  </a:txBody>
                  <a:tcPr marL="0" marR="152400" marT="101600" marB="1016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</a:rPr>
                        <a:t>12 регионов</a:t>
                      </a:r>
                      <a:endParaRPr sz="1300">
                        <a:solidFill>
                          <a:srgbClr val="0F1115"/>
                        </a:solidFill>
                      </a:endParaRPr>
                    </a:p>
                  </a:txBody>
                  <a:tcPr marL="152400" marR="152400" marT="101600" marB="1016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0F1115"/>
                          </a:solidFill>
                        </a:rPr>
                        <a:t>Создание полного цикла автомобилестроения </a:t>
                      </a:r>
                      <a:br>
                        <a:rPr lang="ru" sz="1300" dirty="0">
                          <a:solidFill>
                            <a:srgbClr val="0F1115"/>
                          </a:solidFill>
                        </a:rPr>
                      </a:br>
                      <a:r>
                        <a:rPr lang="ru" sz="1200" dirty="0">
                          <a:solidFill>
                            <a:srgbClr val="666666"/>
                          </a:solidFill>
                        </a:rPr>
                        <a:t>с локализацией компонентов до 97%</a:t>
                      </a:r>
                      <a:endParaRPr sz="1200" dirty="0">
                        <a:solidFill>
                          <a:srgbClr val="666666"/>
                        </a:solidFill>
                      </a:endParaRPr>
                    </a:p>
                  </a:txBody>
                  <a:tcPr marL="152400" marR="152400" marT="101600" marB="1016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0F1115"/>
                          </a:solidFill>
                        </a:rPr>
                        <a:t>Единая ОЭЗ «Поволжье-Авто» </a:t>
                      </a:r>
                      <a:br>
                        <a:rPr lang="ru" sz="1300" b="1">
                          <a:solidFill>
                            <a:srgbClr val="0F1115"/>
                          </a:solidFill>
                        </a:rPr>
                      </a:br>
                      <a:r>
                        <a:rPr lang="ru" sz="1200">
                          <a:solidFill>
                            <a:srgbClr val="666666"/>
                          </a:solidFill>
                        </a:rPr>
                        <a:t>налог на прибыль - 2%, на имущество - 0%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0F1115"/>
                          </a:solidFill>
                        </a:rPr>
                        <a:t>Финансирование через СПИК </a:t>
                      </a:r>
                      <a:br>
                        <a:rPr lang="ru" sz="1300">
                          <a:solidFill>
                            <a:srgbClr val="0F1115"/>
                          </a:solidFill>
                        </a:rPr>
                      </a:br>
                      <a:r>
                        <a:rPr lang="ru" sz="1200">
                          <a:solidFill>
                            <a:srgbClr val="666666"/>
                          </a:solidFill>
                        </a:rPr>
                        <a:t>на сумму 700 млрд руб</a:t>
                      </a:r>
                      <a:endParaRPr sz="1200">
                        <a:solidFill>
                          <a:srgbClr val="666666"/>
                        </a:solidFill>
                      </a:endParaRPr>
                    </a:p>
                  </a:txBody>
                  <a:tcPr marL="152400" marR="0" marT="101600" marB="1016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9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0F1115"/>
                          </a:solidFill>
                        </a:rPr>
                        <a:t>Северо-Кавказский туристско-производ-</a:t>
                      </a:r>
                      <a:br>
                        <a:rPr lang="ru" sz="1300" b="1" dirty="0">
                          <a:solidFill>
                            <a:srgbClr val="0F1115"/>
                          </a:solidFill>
                        </a:rPr>
                      </a:br>
                      <a:r>
                        <a:rPr lang="ru" sz="1300" b="1" dirty="0">
                          <a:solidFill>
                            <a:srgbClr val="0F1115"/>
                          </a:solidFill>
                        </a:rPr>
                        <a:t>ственный кластер</a:t>
                      </a:r>
                      <a:endParaRPr sz="1300" b="1" dirty="0">
                        <a:solidFill>
                          <a:srgbClr val="0F1115"/>
                        </a:solidFill>
                      </a:endParaRPr>
                    </a:p>
                  </a:txBody>
                  <a:tcPr marL="0" marR="152400" marT="101600" marB="1016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dirty="0">
                          <a:solidFill>
                            <a:srgbClr val="0F1115"/>
                          </a:solidFill>
                        </a:rPr>
                        <a:t>5 </a:t>
                      </a:r>
                      <a:br>
                        <a:rPr lang="ru" sz="1300" dirty="0">
                          <a:solidFill>
                            <a:srgbClr val="0F1115"/>
                          </a:solidFill>
                        </a:rPr>
                      </a:br>
                      <a:r>
                        <a:rPr lang="ru" sz="1300" dirty="0">
                          <a:solidFill>
                            <a:srgbClr val="0F1115"/>
                          </a:solidFill>
                        </a:rPr>
                        <a:t>регионов</a:t>
                      </a:r>
                      <a:endParaRPr sz="1300" dirty="0">
                        <a:solidFill>
                          <a:srgbClr val="0F1115"/>
                        </a:solidFill>
                      </a:endParaRPr>
                    </a:p>
                  </a:txBody>
                  <a:tcPr marL="152400" marR="152400" marT="101600" marB="1016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F1115"/>
                          </a:solidFill>
                        </a:rPr>
                        <a:t>Формирование </a:t>
                      </a:r>
                      <a:r>
                        <a:rPr lang="ru" sz="1300" b="1">
                          <a:solidFill>
                            <a:srgbClr val="0F1115"/>
                          </a:solidFill>
                        </a:rPr>
                        <a:t>конкурентоспособного туристического кластера</a:t>
                      </a:r>
                      <a:endParaRPr sz="1300" b="1">
                        <a:solidFill>
                          <a:srgbClr val="0F1115"/>
                        </a:solidFill>
                      </a:endParaRPr>
                    </a:p>
                  </a:txBody>
                  <a:tcPr marL="152400" marR="152400" marT="101600" marB="1016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0F1115"/>
                          </a:solidFill>
                        </a:rPr>
                        <a:t>СПИК «Кавказ.РФ» </a:t>
                      </a:r>
                      <a:br>
                        <a:rPr lang="ru" sz="1300" b="1" dirty="0">
                          <a:solidFill>
                            <a:srgbClr val="0F1115"/>
                          </a:solidFill>
                        </a:rPr>
                      </a:br>
                      <a:r>
                        <a:rPr lang="ru" sz="1200" dirty="0">
                          <a:solidFill>
                            <a:srgbClr val="666666"/>
                          </a:solidFill>
                        </a:rPr>
                        <a:t>с софинансированием 1:3</a:t>
                      </a:r>
                      <a:endParaRPr sz="1200" dirty="0">
                        <a:solidFill>
                          <a:srgbClr val="666666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0F1115"/>
                          </a:solidFill>
                        </a:rPr>
                        <a:t>Чёткая специализация </a:t>
                      </a:r>
                      <a:br>
                        <a:rPr lang="ru" sz="1300" b="1" dirty="0">
                          <a:solidFill>
                            <a:srgbClr val="0F1115"/>
                          </a:solidFill>
                        </a:rPr>
                      </a:br>
                      <a:r>
                        <a:rPr lang="ru" sz="1300" b="1" dirty="0">
                          <a:solidFill>
                            <a:srgbClr val="0F1115"/>
                          </a:solidFill>
                        </a:rPr>
                        <a:t>каждого региона в общем цикле</a:t>
                      </a:r>
                      <a:r>
                        <a:rPr lang="ru" sz="1300" dirty="0">
                          <a:solidFill>
                            <a:srgbClr val="0F1115"/>
                          </a:solidFill>
                        </a:rPr>
                        <a:t> </a:t>
                      </a:r>
                      <a:br>
                        <a:rPr lang="ru" sz="1300" dirty="0">
                          <a:solidFill>
                            <a:srgbClr val="0F1115"/>
                          </a:solidFill>
                        </a:rPr>
                      </a:br>
                      <a:r>
                        <a:rPr lang="ru" sz="1200" dirty="0">
                          <a:solidFill>
                            <a:srgbClr val="666666"/>
                          </a:solidFill>
                        </a:rPr>
                        <a:t>(курорты, производство, логистика, инфраструктура)</a:t>
                      </a:r>
                      <a:endParaRPr sz="1200" dirty="0">
                        <a:solidFill>
                          <a:srgbClr val="666666"/>
                        </a:solidFill>
                      </a:endParaRPr>
                    </a:p>
                  </a:txBody>
                  <a:tcPr marL="152400" marR="0" marT="101600" marB="10160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5" name="Google Shape;225;p25"/>
          <p:cNvSpPr txBox="1"/>
          <p:nvPr/>
        </p:nvSpPr>
        <p:spPr>
          <a:xfrm>
            <a:off x="118104" y="3876422"/>
            <a:ext cx="4708337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ru" sz="1300" dirty="0">
                <a:solidFill>
                  <a:srgbClr val="666666"/>
                </a:solidFill>
              </a:rPr>
              <a:t>Южноуральский металлургический хаб (3)</a:t>
            </a:r>
            <a:endParaRPr sz="1300" dirty="0">
              <a:solidFill>
                <a:srgbClr val="666666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ru" sz="1300" dirty="0">
                <a:solidFill>
                  <a:srgbClr val="666666"/>
                </a:solidFill>
              </a:rPr>
              <a:t>Центральночерноземный агропромышленный кластер (4)</a:t>
            </a:r>
            <a:endParaRPr sz="1300" dirty="0">
              <a:solidFill>
                <a:srgbClr val="666666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ru" sz="1300" dirty="0">
                <a:solidFill>
                  <a:srgbClr val="666666"/>
                </a:solidFill>
              </a:rPr>
              <a:t>Сибирский лесопромышленный хаб (4)</a:t>
            </a:r>
            <a:endParaRPr sz="1300" dirty="0">
              <a:solidFill>
                <a:srgbClr val="666666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ru" sz="1300" dirty="0">
                <a:solidFill>
                  <a:srgbClr val="666666"/>
                </a:solidFill>
              </a:rPr>
              <a:t>Дальневосточный рыбопромышленный кластер (4)</a:t>
            </a:r>
            <a:endParaRPr sz="1300" dirty="0">
              <a:solidFill>
                <a:srgbClr val="666666"/>
              </a:solidFill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4705099" y="3876432"/>
            <a:ext cx="4256549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ru" sz="1300" dirty="0">
                <a:solidFill>
                  <a:srgbClr val="666666"/>
                </a:solidFill>
              </a:rPr>
              <a:t>Бурятско-Якутский горнодобывающий </a:t>
            </a:r>
            <a:br>
              <a:rPr lang="ru" sz="1300" dirty="0">
                <a:solidFill>
                  <a:srgbClr val="666666"/>
                </a:solidFill>
              </a:rPr>
            </a:br>
            <a:r>
              <a:rPr lang="ru" sz="1300" dirty="0">
                <a:solidFill>
                  <a:srgbClr val="666666"/>
                </a:solidFill>
              </a:rPr>
              <a:t>хаб (3)</a:t>
            </a:r>
            <a:endParaRPr sz="1300" dirty="0">
              <a:solidFill>
                <a:srgbClr val="666666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ru" sz="1300" dirty="0">
                <a:solidFill>
                  <a:srgbClr val="666666"/>
                </a:solidFill>
              </a:rPr>
              <a:t>Уральско-Поволжский нефтехимический кластер (3)</a:t>
            </a:r>
            <a:endParaRPr sz="1300" dirty="0">
              <a:solidFill>
                <a:srgbClr val="666666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●"/>
            </a:pPr>
            <a:r>
              <a:rPr lang="ru" sz="1300" dirty="0">
                <a:solidFill>
                  <a:srgbClr val="666666"/>
                </a:solidFill>
              </a:rPr>
              <a:t>Алтайский агротехнологический хаб (4)</a:t>
            </a:r>
            <a:endParaRPr sz="1300" dirty="0">
              <a:solidFill>
                <a:srgbClr val="666666"/>
              </a:solidFill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307087" y="1341717"/>
            <a:ext cx="8558702" cy="2534700"/>
          </a:xfrm>
          <a:prstGeom prst="roundRect">
            <a:avLst>
              <a:gd name="adj" fmla="val 2599"/>
            </a:avLst>
          </a:prstGeom>
          <a:noFill/>
          <a:ln w="19050" cap="flat" cmpd="sng">
            <a:solidFill>
              <a:srgbClr val="0E2D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25"/>
          <p:cNvCxnSpPr/>
          <p:nvPr/>
        </p:nvCxnSpPr>
        <p:spPr>
          <a:xfrm rot="10800000" flipH="1">
            <a:off x="479018" y="2526722"/>
            <a:ext cx="8178000" cy="6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>
            <a:spLocks noGrp="1"/>
          </p:cNvSpPr>
          <p:nvPr>
            <p:ph type="body" idx="2"/>
          </p:nvPr>
        </p:nvSpPr>
        <p:spPr>
          <a:xfrm>
            <a:off x="939967" y="408612"/>
            <a:ext cx="14262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 sz="1000"/>
              <a:t>НИУ ВШЭ ФЭН</a:t>
            </a:r>
            <a:endParaRPr sz="1000"/>
          </a:p>
        </p:txBody>
      </p:sp>
      <p:sp>
        <p:nvSpPr>
          <p:cNvPr id="234" name="Google Shape;234;p26"/>
          <p:cNvSpPr txBox="1">
            <a:spLocks noGrp="1"/>
          </p:cNvSpPr>
          <p:nvPr>
            <p:ph type="body" idx="4"/>
          </p:nvPr>
        </p:nvSpPr>
        <p:spPr>
          <a:xfrm>
            <a:off x="4624463" y="362869"/>
            <a:ext cx="3009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 sz="1200"/>
              <a:t>Уменьшение разрыва по уровню бюджетной обеспеченности регионов</a:t>
            </a:r>
            <a:endParaRPr sz="1200"/>
          </a:p>
        </p:txBody>
      </p:sp>
      <p:sp>
        <p:nvSpPr>
          <p:cNvPr id="235" name="Google Shape;235;p26"/>
          <p:cNvSpPr txBox="1"/>
          <p:nvPr/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Департамент прикладной экономики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415725" y="619569"/>
            <a:ext cx="428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1800" b="1" dirty="0">
                <a:solidFill>
                  <a:schemeClr val="dk1"/>
                </a:solidFill>
              </a:rPr>
              <a:t>Методология анализа</a:t>
            </a:r>
            <a:endParaRPr sz="1800" b="1" dirty="0">
              <a:solidFill>
                <a:schemeClr val="dk1"/>
              </a:solidFill>
            </a:endParaRPr>
          </a:p>
        </p:txBody>
      </p:sp>
      <p:pic>
        <p:nvPicPr>
          <p:cNvPr id="237" name="Google Shape;2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1517" y="1132013"/>
            <a:ext cx="3854860" cy="4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 txBox="1"/>
          <p:nvPr/>
        </p:nvSpPr>
        <p:spPr>
          <a:xfrm>
            <a:off x="6418175" y="1673825"/>
            <a:ext cx="2572500" cy="3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4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i="1">
                <a:solidFill>
                  <a:srgbClr val="0F1115"/>
                </a:solidFill>
              </a:rPr>
              <a:t>БО – </a:t>
            </a:r>
            <a:r>
              <a:rPr lang="ru" sz="900">
                <a:solidFill>
                  <a:srgbClr val="0F1115"/>
                </a:solidFill>
              </a:rPr>
              <a:t>индекс бюджетной обеспеченности (коэффициент)</a:t>
            </a:r>
            <a:endParaRPr sz="900">
              <a:solidFill>
                <a:srgbClr val="0F1115"/>
              </a:solidFill>
            </a:endParaRPr>
          </a:p>
          <a:p>
            <a:pPr marL="0" lvl="0" indent="0" algn="just" rtl="0">
              <a:lnSpc>
                <a:spcPct val="14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i="1">
                <a:solidFill>
                  <a:srgbClr val="0F1115"/>
                </a:solidFill>
              </a:rPr>
              <a:t>ИНВ - </a:t>
            </a:r>
            <a:r>
              <a:rPr lang="ru" sz="900">
                <a:solidFill>
                  <a:srgbClr val="0F1115"/>
                </a:solidFill>
              </a:rPr>
              <a:t>объем инвестиций в основной капитал (доля от ВРП)</a:t>
            </a:r>
            <a:endParaRPr sz="900">
              <a:solidFill>
                <a:srgbClr val="0F1115"/>
              </a:solidFill>
            </a:endParaRPr>
          </a:p>
          <a:p>
            <a:pPr marL="0" lvl="0" indent="0" algn="just" rtl="0">
              <a:lnSpc>
                <a:spcPct val="14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i="1">
                <a:solidFill>
                  <a:srgbClr val="0F1115"/>
                </a:solidFill>
              </a:rPr>
              <a:t>ИПП - </a:t>
            </a:r>
            <a:r>
              <a:rPr lang="ru" sz="900">
                <a:solidFill>
                  <a:srgbClr val="0F1115"/>
                </a:solidFill>
              </a:rPr>
              <a:t>индекс промышленного производства (коэффициент)</a:t>
            </a:r>
            <a:endParaRPr sz="900">
              <a:solidFill>
                <a:srgbClr val="0F1115"/>
              </a:solidFill>
            </a:endParaRPr>
          </a:p>
          <a:p>
            <a:pPr marL="0" lvl="0" indent="0" algn="just" rtl="0">
              <a:lnSpc>
                <a:spcPct val="14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i="1">
                <a:solidFill>
                  <a:srgbClr val="0F1115"/>
                </a:solidFill>
              </a:rPr>
              <a:t>ДН – </a:t>
            </a:r>
            <a:r>
              <a:rPr lang="ru" sz="900">
                <a:solidFill>
                  <a:srgbClr val="0F1115"/>
                </a:solidFill>
              </a:rPr>
              <a:t>индекс демографической нагрузки (доля нетрудоспособных в составе населения)</a:t>
            </a:r>
            <a:endParaRPr sz="900">
              <a:solidFill>
                <a:srgbClr val="0F1115"/>
              </a:solidFill>
            </a:endParaRPr>
          </a:p>
          <a:p>
            <a:pPr marL="0" lvl="0" indent="0" algn="just" rtl="0">
              <a:lnSpc>
                <a:spcPct val="14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i="1">
                <a:solidFill>
                  <a:srgbClr val="0F1115"/>
                </a:solidFill>
              </a:rPr>
              <a:t>МбТр – </a:t>
            </a:r>
            <a:r>
              <a:rPr lang="ru" sz="900">
                <a:solidFill>
                  <a:srgbClr val="0F1115"/>
                </a:solidFill>
              </a:rPr>
              <a:t>межбюджетные трансферты (субсидии и иные МБТ) (тыс. рублей)</a:t>
            </a:r>
            <a:endParaRPr sz="900">
              <a:solidFill>
                <a:srgbClr val="0F1115"/>
              </a:solidFill>
            </a:endParaRPr>
          </a:p>
          <a:p>
            <a:pPr marL="0" lvl="0" indent="0" algn="just" rtl="0">
              <a:lnSpc>
                <a:spcPct val="14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i="1">
                <a:solidFill>
                  <a:srgbClr val="0F1115"/>
                </a:solidFill>
              </a:rPr>
              <a:t>НД</a:t>
            </a:r>
            <a:r>
              <a:rPr lang="ru" sz="900">
                <a:solidFill>
                  <a:srgbClr val="0F1115"/>
                </a:solidFill>
              </a:rPr>
              <a:t> – налоговые доходы на душу населения (из бюджета региона) (тыс. рублей)</a:t>
            </a:r>
            <a:endParaRPr sz="900">
              <a:solidFill>
                <a:srgbClr val="0F1115"/>
              </a:solidFill>
            </a:endParaRPr>
          </a:p>
          <a:p>
            <a:pPr marL="0" lvl="0" indent="0" algn="just" rtl="0">
              <a:lnSpc>
                <a:spcPct val="14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 i="1">
                <a:solidFill>
                  <a:srgbClr val="0F1115"/>
                </a:solidFill>
              </a:rPr>
              <a:t>ГР – </a:t>
            </a:r>
            <a:r>
              <a:rPr lang="ru" sz="900">
                <a:solidFill>
                  <a:srgbClr val="0F1115"/>
                </a:solidFill>
              </a:rPr>
              <a:t>расходы бюджета на душу населения (из бюджета региона) (тыс. рублей)</a:t>
            </a:r>
            <a:endParaRPr sz="2013">
              <a:solidFill>
                <a:srgbClr val="0F111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9" name="Google Shape;239;p26"/>
          <p:cNvGraphicFramePr/>
          <p:nvPr/>
        </p:nvGraphicFramePr>
        <p:xfrm>
          <a:off x="4771538" y="1791775"/>
          <a:ext cx="1552500" cy="2934675"/>
        </p:xfrm>
        <a:graphic>
          <a:graphicData uri="http://schemas.openxmlformats.org/drawingml/2006/table">
            <a:tbl>
              <a:tblPr>
                <a:noFill/>
                <a:tableStyleId>{E829A677-B01E-4934-84F3-7FE410150E91}</a:tableStyleId>
              </a:tblPr>
              <a:tblGrid>
                <a:gridCol w="85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 i="1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 i="1">
                          <a:solidFill>
                            <a:srgbClr val="102D69"/>
                          </a:solidFill>
                        </a:rPr>
                        <a:t>Estimate</a:t>
                      </a:r>
                      <a:endParaRPr sz="900" b="1" i="1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>
                          <a:solidFill>
                            <a:srgbClr val="102D69"/>
                          </a:solidFill>
                        </a:rPr>
                        <a:t>Log(ИНВ)</a:t>
                      </a:r>
                      <a:endParaRPr sz="900" b="1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rgbClr val="102D69"/>
                          </a:solidFill>
                        </a:rPr>
                        <a:t>-0.02*</a:t>
                      </a:r>
                      <a:endParaRPr sz="900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>
                          <a:solidFill>
                            <a:srgbClr val="102D69"/>
                          </a:solidFill>
                        </a:rPr>
                        <a:t>ИПП</a:t>
                      </a:r>
                      <a:endParaRPr sz="900" b="1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rgbClr val="102D69"/>
                          </a:solidFill>
                        </a:rPr>
                        <a:t>0.003.</a:t>
                      </a:r>
                      <a:endParaRPr sz="900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>
                          <a:solidFill>
                            <a:srgbClr val="102D69"/>
                          </a:solidFill>
                        </a:rPr>
                        <a:t>ДН</a:t>
                      </a:r>
                      <a:endParaRPr sz="900" b="1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rgbClr val="102D69"/>
                          </a:solidFill>
                        </a:rPr>
                        <a:t>-0.17***</a:t>
                      </a:r>
                      <a:endParaRPr sz="900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>
                          <a:solidFill>
                            <a:srgbClr val="102D69"/>
                          </a:solidFill>
                        </a:rPr>
                        <a:t>Log(МбТр)</a:t>
                      </a:r>
                      <a:endParaRPr sz="900" b="1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rgbClr val="102D69"/>
                          </a:solidFill>
                        </a:rPr>
                        <a:t>-0.11*</a:t>
                      </a:r>
                      <a:endParaRPr sz="900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>
                          <a:solidFill>
                            <a:srgbClr val="102D69"/>
                          </a:solidFill>
                        </a:rPr>
                        <a:t>Log(НД)</a:t>
                      </a:r>
                      <a:endParaRPr sz="900" b="1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rgbClr val="102D69"/>
                          </a:solidFill>
                        </a:rPr>
                        <a:t>0.11**</a:t>
                      </a:r>
                      <a:endParaRPr sz="900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>
                          <a:solidFill>
                            <a:srgbClr val="102D69"/>
                          </a:solidFill>
                        </a:rPr>
                        <a:t>Log(ГР)</a:t>
                      </a:r>
                      <a:endParaRPr sz="900" b="1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>
                          <a:solidFill>
                            <a:srgbClr val="102D69"/>
                          </a:solidFill>
                        </a:rPr>
                        <a:t>0.11</a:t>
                      </a:r>
                      <a:endParaRPr sz="900" b="1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>
                          <a:solidFill>
                            <a:srgbClr val="102D69"/>
                          </a:solidFill>
                        </a:rPr>
                        <a:t>R-Squared</a:t>
                      </a:r>
                      <a:endParaRPr sz="900" b="1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rgbClr val="102D69"/>
                          </a:solidFill>
                        </a:rPr>
                        <a:t>0.45</a:t>
                      </a:r>
                      <a:endParaRPr sz="900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>
                          <a:solidFill>
                            <a:srgbClr val="102D69"/>
                          </a:solidFill>
                        </a:rPr>
                        <a:t>R Adj</a:t>
                      </a:r>
                      <a:endParaRPr sz="900" b="1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rgbClr val="102D69"/>
                          </a:solidFill>
                        </a:rPr>
                        <a:t>0.36</a:t>
                      </a:r>
                      <a:endParaRPr sz="900">
                        <a:solidFill>
                          <a:srgbClr val="102D69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40" name="Google Shape;240;p26"/>
          <p:cNvSpPr/>
          <p:nvPr/>
        </p:nvSpPr>
        <p:spPr>
          <a:xfrm>
            <a:off x="394625" y="1333675"/>
            <a:ext cx="4282800" cy="670500"/>
          </a:xfrm>
          <a:prstGeom prst="roundRect">
            <a:avLst>
              <a:gd name="adj" fmla="val 4875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/>
              <a:t>Шаг 1. </a:t>
            </a:r>
            <a:r>
              <a:rPr lang="ru" sz="1500"/>
              <a:t>Оценка модели с фиксированными эффектами на 65 регионах (Аутсайдеры)</a:t>
            </a:r>
            <a:endParaRPr sz="1500"/>
          </a:p>
        </p:txBody>
      </p:sp>
      <p:sp>
        <p:nvSpPr>
          <p:cNvPr id="241" name="Google Shape;241;p26"/>
          <p:cNvSpPr/>
          <p:nvPr/>
        </p:nvSpPr>
        <p:spPr>
          <a:xfrm>
            <a:off x="394625" y="2117850"/>
            <a:ext cx="4282800" cy="933900"/>
          </a:xfrm>
          <a:prstGeom prst="roundRect">
            <a:avLst>
              <a:gd name="adj" fmla="val 4875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/>
              <a:t>Шаг 2. </a:t>
            </a:r>
            <a:r>
              <a:rPr lang="ru" sz="1500"/>
              <a:t>После получения оценки коэффициента влияния государственных расходов, определяем, сколько нужно потратить, чтобы довести БО до 1</a:t>
            </a:r>
            <a:endParaRPr sz="1500"/>
          </a:p>
        </p:txBody>
      </p:sp>
      <p:pic>
        <p:nvPicPr>
          <p:cNvPr id="242" name="Google Shape;242;p26"/>
          <p:cNvPicPr preferRelativeResize="0"/>
          <p:nvPr/>
        </p:nvPicPr>
        <p:blipFill rotWithShape="1">
          <a:blip r:embed="rId4">
            <a:alphaModFix/>
          </a:blip>
          <a:srcRect t="17844" r="17143"/>
          <a:stretch/>
        </p:blipFill>
        <p:spPr>
          <a:xfrm>
            <a:off x="394625" y="3289388"/>
            <a:ext cx="1681825" cy="5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6"/>
          <p:cNvPicPr preferRelativeResize="0"/>
          <p:nvPr/>
        </p:nvPicPr>
        <p:blipFill rotWithShape="1">
          <a:blip r:embed="rId5">
            <a:alphaModFix/>
          </a:blip>
          <a:srcRect t="1516"/>
          <a:stretch/>
        </p:blipFill>
        <p:spPr>
          <a:xfrm>
            <a:off x="2463838" y="3377375"/>
            <a:ext cx="1301242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6"/>
          <p:cNvPicPr preferRelativeResize="0"/>
          <p:nvPr/>
        </p:nvPicPr>
        <p:blipFill rotWithShape="1">
          <a:blip r:embed="rId6">
            <a:alphaModFix/>
          </a:blip>
          <a:srcRect l="6594" t="18242" b="8583"/>
          <a:stretch/>
        </p:blipFill>
        <p:spPr>
          <a:xfrm>
            <a:off x="721197" y="4081500"/>
            <a:ext cx="2454395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6"/>
          <p:cNvSpPr txBox="1"/>
          <p:nvPr/>
        </p:nvSpPr>
        <p:spPr>
          <a:xfrm>
            <a:off x="394625" y="3202563"/>
            <a:ext cx="381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/>
              <a:t>1)</a:t>
            </a:r>
            <a:endParaRPr sz="1100"/>
          </a:p>
        </p:txBody>
      </p:sp>
      <p:sp>
        <p:nvSpPr>
          <p:cNvPr id="246" name="Google Shape;246;p26"/>
          <p:cNvSpPr txBox="1"/>
          <p:nvPr/>
        </p:nvSpPr>
        <p:spPr>
          <a:xfrm>
            <a:off x="2366175" y="3290550"/>
            <a:ext cx="381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/>
              <a:t>2)</a:t>
            </a:r>
            <a:endParaRPr sz="1100"/>
          </a:p>
        </p:txBody>
      </p:sp>
      <p:sp>
        <p:nvSpPr>
          <p:cNvPr id="247" name="Google Shape;247;p26"/>
          <p:cNvSpPr txBox="1"/>
          <p:nvPr/>
        </p:nvSpPr>
        <p:spPr>
          <a:xfrm>
            <a:off x="492125" y="3883350"/>
            <a:ext cx="381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/>
              <a:t>3)</a:t>
            </a:r>
            <a:endParaRPr sz="1100"/>
          </a:p>
        </p:txBody>
      </p:sp>
      <p:sp>
        <p:nvSpPr>
          <p:cNvPr id="248" name="Google Shape;248;p26"/>
          <p:cNvSpPr txBox="1"/>
          <p:nvPr/>
        </p:nvSpPr>
        <p:spPr>
          <a:xfrm>
            <a:off x="492125" y="4616125"/>
            <a:ext cx="3356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4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i="1">
                <a:solidFill>
                  <a:srgbClr val="0F1115"/>
                </a:solidFill>
              </a:rPr>
              <a:t>Для регионов, входящих в кластеры</a:t>
            </a:r>
            <a:endParaRPr sz="1000">
              <a:solidFill>
                <a:srgbClr val="0F1115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 txBox="1"/>
          <p:nvPr/>
        </p:nvSpPr>
        <p:spPr>
          <a:xfrm>
            <a:off x="5403275" y="1017225"/>
            <a:ext cx="3401700" cy="3130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1">
                <a:latin typeface="Times New Roman"/>
                <a:ea typeface="Times New Roman"/>
                <a:cs typeface="Times New Roman"/>
                <a:sym typeface="Times New Roman"/>
              </a:rPr>
              <a:t>ВРП – </a:t>
            </a:r>
            <a:r>
              <a:rPr lang="ru" sz="1200">
                <a:latin typeface="Times New Roman"/>
                <a:ea typeface="Times New Roman"/>
                <a:cs typeface="Times New Roman"/>
                <a:sym typeface="Times New Roman"/>
              </a:rPr>
              <a:t>валовый региональный продукт (тыс. рублей)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1">
                <a:latin typeface="Times New Roman"/>
                <a:ea typeface="Times New Roman"/>
                <a:cs typeface="Times New Roman"/>
                <a:sym typeface="Times New Roman"/>
              </a:rPr>
              <a:t>ИНВ - </a:t>
            </a:r>
            <a:r>
              <a:rPr lang="ru" sz="1200">
                <a:latin typeface="Times New Roman"/>
                <a:ea typeface="Times New Roman"/>
                <a:cs typeface="Times New Roman"/>
                <a:sym typeface="Times New Roman"/>
              </a:rPr>
              <a:t>объем инвестиций в основной капитал (тыс. рублей)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Times New Roman"/>
                <a:ea typeface="Times New Roman"/>
                <a:cs typeface="Times New Roman"/>
                <a:sym typeface="Times New Roman"/>
              </a:rPr>
              <a:t>нетрудоспособных в составе населения)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1">
                <a:latin typeface="Times New Roman"/>
                <a:ea typeface="Times New Roman"/>
                <a:cs typeface="Times New Roman"/>
                <a:sym typeface="Times New Roman"/>
              </a:rPr>
              <a:t>ГР – </a:t>
            </a:r>
            <a:r>
              <a:rPr lang="ru" sz="1200">
                <a:latin typeface="Times New Roman"/>
                <a:ea typeface="Times New Roman"/>
                <a:cs typeface="Times New Roman"/>
                <a:sym typeface="Times New Roman"/>
              </a:rPr>
              <a:t>расходы бюджета на душу населения (из бюджета региона) (тыс. рублей)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1">
                <a:latin typeface="Times New Roman"/>
                <a:ea typeface="Times New Roman"/>
                <a:cs typeface="Times New Roman"/>
                <a:sym typeface="Times New Roman"/>
              </a:rPr>
              <a:t>ГР – </a:t>
            </a:r>
            <a:r>
              <a:rPr lang="ru" sz="1200">
                <a:latin typeface="Times New Roman"/>
                <a:ea typeface="Times New Roman"/>
                <a:cs typeface="Times New Roman"/>
                <a:sym typeface="Times New Roman"/>
              </a:rPr>
              <a:t>дополнительные расходы бюджета на душу населения (из бюджета региона) (тыс. рублей)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" sz="1200" i="1">
                <a:latin typeface="Times New Roman"/>
                <a:ea typeface="Times New Roman"/>
                <a:cs typeface="Times New Roman"/>
                <a:sym typeface="Times New Roman"/>
              </a:rPr>
              <a:t>ИПП - </a:t>
            </a:r>
            <a:r>
              <a:rPr lang="ru" sz="1200">
                <a:latin typeface="Times New Roman"/>
                <a:ea typeface="Times New Roman"/>
                <a:cs typeface="Times New Roman"/>
                <a:sym typeface="Times New Roman"/>
              </a:rPr>
              <a:t>индекс промышленного производства (коэффициент)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i="1">
                <a:latin typeface="Times New Roman"/>
                <a:ea typeface="Times New Roman"/>
                <a:cs typeface="Times New Roman"/>
                <a:sym typeface="Times New Roman"/>
              </a:rPr>
              <a:t>ДН – </a:t>
            </a:r>
            <a:r>
              <a:rPr lang="ru" sz="1200">
                <a:latin typeface="Times New Roman"/>
                <a:ea typeface="Times New Roman"/>
                <a:cs typeface="Times New Roman"/>
                <a:sym typeface="Times New Roman"/>
              </a:rPr>
              <a:t>индекс демографической нагрузки (доля нетрудоспособного населения)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7"/>
          <p:cNvSpPr txBox="1">
            <a:spLocks noGrp="1"/>
          </p:cNvSpPr>
          <p:nvPr>
            <p:ph type="body" idx="2"/>
          </p:nvPr>
        </p:nvSpPr>
        <p:spPr>
          <a:xfrm>
            <a:off x="939967" y="408612"/>
            <a:ext cx="14262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 sz="1000"/>
              <a:t>НИУ ВШЭ ФЭН</a:t>
            </a:r>
            <a:endParaRPr sz="1000"/>
          </a:p>
        </p:txBody>
      </p:sp>
      <p:sp>
        <p:nvSpPr>
          <p:cNvPr id="255" name="Google Shape;255;p27"/>
          <p:cNvSpPr txBox="1">
            <a:spLocks noGrp="1"/>
          </p:cNvSpPr>
          <p:nvPr>
            <p:ph type="body" idx="4"/>
          </p:nvPr>
        </p:nvSpPr>
        <p:spPr>
          <a:xfrm>
            <a:off x="4624463" y="362869"/>
            <a:ext cx="3009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 sz="1200"/>
              <a:t>Уменьшение разрыва по уровню бюджетной обеспеченности регионов</a:t>
            </a:r>
            <a:endParaRPr sz="1200"/>
          </a:p>
        </p:txBody>
      </p:sp>
      <p:sp>
        <p:nvSpPr>
          <p:cNvPr id="256" name="Google Shape;256;p27"/>
          <p:cNvSpPr txBox="1"/>
          <p:nvPr/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Департамент прикладной экономики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405150" y="561452"/>
            <a:ext cx="428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1800" b="1" dirty="0">
                <a:solidFill>
                  <a:schemeClr val="dk1"/>
                </a:solidFill>
              </a:rPr>
              <a:t>Методология анализа</a:t>
            </a: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394625" y="1333675"/>
            <a:ext cx="4282800" cy="1254000"/>
          </a:xfrm>
          <a:prstGeom prst="roundRect">
            <a:avLst>
              <a:gd name="adj" fmla="val 4875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/>
              <a:t>Шаг 3. </a:t>
            </a:r>
            <a:r>
              <a:rPr lang="ru" sz="1500"/>
              <a:t>Прогноз модели с фиксированными эффектами и  инструментальными переменными на общей выборке:  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с дополнительными расходами 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и без доп. расходов</a:t>
            </a:r>
            <a:endParaRPr sz="1500"/>
          </a:p>
        </p:txBody>
      </p:sp>
      <p:pic>
        <p:nvPicPr>
          <p:cNvPr id="259" name="Google Shape;2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675" y="3458625"/>
            <a:ext cx="1084406" cy="40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7"/>
          <p:cNvPicPr preferRelativeResize="0"/>
          <p:nvPr/>
        </p:nvPicPr>
        <p:blipFill rotWithShape="1">
          <a:blip r:embed="rId4">
            <a:alphaModFix/>
          </a:blip>
          <a:srcRect r="7663"/>
          <a:stretch/>
        </p:blipFill>
        <p:spPr>
          <a:xfrm>
            <a:off x="5464650" y="2587800"/>
            <a:ext cx="227675" cy="2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7"/>
          <p:cNvPicPr preferRelativeResize="0"/>
          <p:nvPr/>
        </p:nvPicPr>
        <p:blipFill rotWithShape="1">
          <a:blip r:embed="rId4">
            <a:alphaModFix/>
          </a:blip>
          <a:srcRect r="7663"/>
          <a:stretch/>
        </p:blipFill>
        <p:spPr>
          <a:xfrm>
            <a:off x="3837375" y="2050900"/>
            <a:ext cx="227675" cy="23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7"/>
          <p:cNvSpPr txBox="1"/>
          <p:nvPr/>
        </p:nvSpPr>
        <p:spPr>
          <a:xfrm>
            <a:off x="214200" y="2718863"/>
            <a:ext cx="3819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/>
              <a:t>1)</a:t>
            </a:r>
            <a:endParaRPr sz="11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/>
              <a:t>2)</a:t>
            </a:r>
            <a:endParaRPr sz="1100" b="1"/>
          </a:p>
        </p:txBody>
      </p:sp>
      <p:pic>
        <p:nvPicPr>
          <p:cNvPr id="263" name="Google Shape;263;p27"/>
          <p:cNvPicPr preferRelativeResize="0"/>
          <p:nvPr/>
        </p:nvPicPr>
        <p:blipFill rotWithShape="1">
          <a:blip r:embed="rId5">
            <a:alphaModFix/>
          </a:blip>
          <a:srcRect l="1302" b="48277"/>
          <a:stretch/>
        </p:blipFill>
        <p:spPr>
          <a:xfrm>
            <a:off x="538575" y="2793625"/>
            <a:ext cx="4805224" cy="27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7"/>
          <p:cNvPicPr preferRelativeResize="0"/>
          <p:nvPr/>
        </p:nvPicPr>
        <p:blipFill rotWithShape="1">
          <a:blip r:embed="rId5">
            <a:alphaModFix/>
          </a:blip>
          <a:srcRect l="5320" t="54699" b="4"/>
          <a:stretch/>
        </p:blipFill>
        <p:spPr>
          <a:xfrm>
            <a:off x="538575" y="3121625"/>
            <a:ext cx="4609400" cy="2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"/>
          <p:cNvSpPr txBox="1">
            <a:spLocks noGrp="1"/>
          </p:cNvSpPr>
          <p:nvPr>
            <p:ph type="body" idx="2"/>
          </p:nvPr>
        </p:nvSpPr>
        <p:spPr>
          <a:xfrm>
            <a:off x="939967" y="408612"/>
            <a:ext cx="14262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 sz="1000"/>
              <a:t>НИУ ВШЭ ФЭН</a:t>
            </a:r>
            <a:endParaRPr sz="1000"/>
          </a:p>
        </p:txBody>
      </p:sp>
      <p:sp>
        <p:nvSpPr>
          <p:cNvPr id="270" name="Google Shape;270;p28"/>
          <p:cNvSpPr txBox="1">
            <a:spLocks noGrp="1"/>
          </p:cNvSpPr>
          <p:nvPr>
            <p:ph type="body" idx="4"/>
          </p:nvPr>
        </p:nvSpPr>
        <p:spPr>
          <a:xfrm>
            <a:off x="4624463" y="362869"/>
            <a:ext cx="3009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 sz="1200"/>
              <a:t>Уменьшение разрыва по уровню бюджетной обеспеченности регионов</a:t>
            </a:r>
            <a:endParaRPr sz="1200"/>
          </a:p>
        </p:txBody>
      </p:sp>
      <p:sp>
        <p:nvSpPr>
          <p:cNvPr id="271" name="Google Shape;271;p28"/>
          <p:cNvSpPr txBox="1"/>
          <p:nvPr/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Департамент прикладной экономики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8"/>
          <p:cNvSpPr txBox="1"/>
          <p:nvPr/>
        </p:nvSpPr>
        <p:spPr>
          <a:xfrm>
            <a:off x="341663" y="535519"/>
            <a:ext cx="428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1800" b="1" dirty="0">
                <a:solidFill>
                  <a:schemeClr val="dk1"/>
                </a:solidFill>
              </a:rPr>
              <a:t>Методология анализа</a:t>
            </a: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394625" y="1333675"/>
            <a:ext cx="4282800" cy="544500"/>
          </a:xfrm>
          <a:prstGeom prst="roundRect">
            <a:avLst>
              <a:gd name="adj" fmla="val 4875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/>
              <a:t>Шаг 4. </a:t>
            </a:r>
            <a:r>
              <a:rPr lang="ru" sz="1500"/>
              <a:t>Анализ разницы средних прогнозов ВРП от увеличения региональных расходов</a:t>
            </a:r>
            <a:endParaRPr sz="1500"/>
          </a:p>
        </p:txBody>
      </p:sp>
      <p:pic>
        <p:nvPicPr>
          <p:cNvPr id="274" name="Google Shape;2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963" y="1995175"/>
            <a:ext cx="4566137" cy="299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7797" y="1771375"/>
            <a:ext cx="1662075" cy="83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8450" y="1404900"/>
            <a:ext cx="3864424" cy="27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3096" y="2610250"/>
            <a:ext cx="2791480" cy="40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8"/>
          <p:cNvSpPr txBox="1"/>
          <p:nvPr/>
        </p:nvSpPr>
        <p:spPr>
          <a:xfrm>
            <a:off x="5135275" y="3210575"/>
            <a:ext cx="38643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100"/>
              <a:t>Рост доходов в регионе увеличит экономическую активность фирм и рынка труда, таким образом, спровоцирует рост доходной части в бюджете региона.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 txBox="1">
            <a:spLocks noGrp="1"/>
          </p:cNvSpPr>
          <p:nvPr>
            <p:ph type="body" idx="2"/>
          </p:nvPr>
        </p:nvSpPr>
        <p:spPr>
          <a:xfrm>
            <a:off x="939967" y="408612"/>
            <a:ext cx="1426200" cy="3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ru" sz="1000"/>
              <a:t>НИУ ВШЭ ФЭН</a:t>
            </a:r>
            <a:endParaRPr sz="1000"/>
          </a:p>
        </p:txBody>
      </p:sp>
      <p:sp>
        <p:nvSpPr>
          <p:cNvPr id="284" name="Google Shape;284;p29"/>
          <p:cNvSpPr txBox="1">
            <a:spLocks noGrp="1"/>
          </p:cNvSpPr>
          <p:nvPr>
            <p:ph type="body" idx="4"/>
          </p:nvPr>
        </p:nvSpPr>
        <p:spPr>
          <a:xfrm>
            <a:off x="4624463" y="362869"/>
            <a:ext cx="3009600" cy="4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None/>
            </a:pPr>
            <a:r>
              <a:rPr lang="ru" sz="1200"/>
              <a:t>Уменьшение разрыва по уровню бюджетной обеспеченности регионов</a:t>
            </a:r>
            <a:endParaRPr sz="1200"/>
          </a:p>
        </p:txBody>
      </p:sp>
      <p:sp>
        <p:nvSpPr>
          <p:cNvPr id="285" name="Google Shape;285;p29"/>
          <p:cNvSpPr txBox="1"/>
          <p:nvPr/>
        </p:nvSpPr>
        <p:spPr>
          <a:xfrm>
            <a:off x="2594372" y="411540"/>
            <a:ext cx="1552500" cy="3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900"/>
              <a:buFont typeface="Arial"/>
              <a:buNone/>
            </a:pPr>
            <a:r>
              <a:rPr lang="ru" sz="900" b="0" i="0" u="none" strike="noStrike" cap="none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rPr>
              <a:t>Департамент прикладной экономики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E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9"/>
          <p:cNvSpPr txBox="1"/>
          <p:nvPr/>
        </p:nvSpPr>
        <p:spPr>
          <a:xfrm>
            <a:off x="279375" y="522360"/>
            <a:ext cx="683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ru" sz="1800" b="1" dirty="0">
                <a:solidFill>
                  <a:schemeClr val="dk1"/>
                </a:solidFill>
              </a:rPr>
              <a:t>Результаты и выводы </a:t>
            </a:r>
            <a:endParaRPr sz="1800" b="1" dirty="0">
              <a:solidFill>
                <a:schemeClr val="dk1"/>
              </a:solidFill>
            </a:endParaRPr>
          </a:p>
        </p:txBody>
      </p:sp>
      <p:sp>
        <p:nvSpPr>
          <p:cNvPr id="287" name="Google Shape;287;p29"/>
          <p:cNvSpPr txBox="1"/>
          <p:nvPr/>
        </p:nvSpPr>
        <p:spPr>
          <a:xfrm>
            <a:off x="252675" y="1237375"/>
            <a:ext cx="400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rgbClr val="073763"/>
                </a:solidFill>
              </a:rPr>
              <a:t>Текущая ситуация и системные проблемы</a:t>
            </a:r>
            <a:endParaRPr dirty="0"/>
          </a:p>
        </p:txBody>
      </p:sp>
      <p:sp>
        <p:nvSpPr>
          <p:cNvPr id="288" name="Google Shape;288;p29"/>
          <p:cNvSpPr txBox="1"/>
          <p:nvPr/>
        </p:nvSpPr>
        <p:spPr>
          <a:xfrm>
            <a:off x="279375" y="1548925"/>
            <a:ext cx="4277400" cy="15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В России сохраняется значительная разница в уровне бюджетной обеспеченности регионов.</a:t>
            </a:r>
            <a:endParaRPr sz="11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/>
              <a:t>Канал субсидий не работает:</a:t>
            </a:r>
            <a:r>
              <a:rPr lang="ru" sz="1100"/>
              <a:t> Существующая система распределения дотаций не стимулирует регионы к развитию. Она фиксирует зависимость от федерального центра и «консервирует» иждивенческие настроения, не решая задачу перехода к самофинансированию.</a:t>
            </a:r>
            <a:endParaRPr sz="1100"/>
          </a:p>
        </p:txBody>
      </p:sp>
      <p:sp>
        <p:nvSpPr>
          <p:cNvPr id="289" name="Google Shape;289;p29"/>
          <p:cNvSpPr txBox="1"/>
          <p:nvPr/>
        </p:nvSpPr>
        <p:spPr>
          <a:xfrm>
            <a:off x="252675" y="3324150"/>
            <a:ext cx="4422900" cy="15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/>
              <a:t>Демографическая нагрузка (ДН):</a:t>
            </a:r>
            <a:r>
              <a:rPr lang="ru" sz="1100"/>
              <a:t> рост числа нетрудоспособного населения существенно снижает бюджетную обеспеченность.</a:t>
            </a:r>
            <a:endParaRPr sz="11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/>
              <a:t>Налоговые доходы (НД)</a:t>
            </a:r>
            <a:endParaRPr sz="11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/>
              <a:t>Дополнительные расходы</a:t>
            </a:r>
            <a:r>
              <a:rPr lang="ru" sz="1100"/>
              <a:t> на создание “новых” точек притяжения  перестраивают экономику.</a:t>
            </a:r>
            <a:endParaRPr sz="1100"/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Индустриализация становится драйвером роста регионов.</a:t>
            </a:r>
            <a:endParaRPr sz="1100"/>
          </a:p>
        </p:txBody>
      </p:sp>
      <p:sp>
        <p:nvSpPr>
          <p:cNvPr id="290" name="Google Shape;290;p29"/>
          <p:cNvSpPr txBox="1"/>
          <p:nvPr/>
        </p:nvSpPr>
        <p:spPr>
          <a:xfrm>
            <a:off x="279375" y="29998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73763"/>
                </a:solidFill>
              </a:rPr>
              <a:t>Факторы влияния на БО</a:t>
            </a:r>
            <a:endParaRPr b="1">
              <a:solidFill>
                <a:srgbClr val="073763"/>
              </a:solidFill>
            </a:endParaRPr>
          </a:p>
        </p:txBody>
      </p:sp>
      <p:sp>
        <p:nvSpPr>
          <p:cNvPr id="291" name="Google Shape;291;p29"/>
          <p:cNvSpPr txBox="1"/>
          <p:nvPr/>
        </p:nvSpPr>
        <p:spPr>
          <a:xfrm>
            <a:off x="4917275" y="1548925"/>
            <a:ext cx="38511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 dirty="0"/>
              <a:t>Целевая индустриализация и агломерационный подход:</a:t>
            </a:r>
            <a:r>
              <a:rPr lang="ru" sz="1100" dirty="0"/>
              <a:t> Стимулирование промышленного производства через производственные кластеры.</a:t>
            </a:r>
            <a:endParaRPr sz="1100" dirty="0"/>
          </a:p>
        </p:txBody>
      </p:sp>
      <p:sp>
        <p:nvSpPr>
          <p:cNvPr id="292" name="Google Shape;292;p29"/>
          <p:cNvSpPr txBox="1"/>
          <p:nvPr/>
        </p:nvSpPr>
        <p:spPr>
          <a:xfrm>
            <a:off x="4917275" y="1201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73763"/>
                </a:solidFill>
              </a:rPr>
              <a:t>Наши меры</a:t>
            </a:r>
            <a:endParaRPr>
              <a:solidFill>
                <a:srgbClr val="234A9B"/>
              </a:solidFill>
            </a:endParaRPr>
          </a:p>
        </p:txBody>
      </p:sp>
      <p:pic>
        <p:nvPicPr>
          <p:cNvPr id="293" name="Google Shape;29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3250" y="3701950"/>
            <a:ext cx="2413923" cy="133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2275" y="3544575"/>
            <a:ext cx="921925" cy="71528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/>
        </p:nvSpPr>
        <p:spPr>
          <a:xfrm>
            <a:off x="4917275" y="2615093"/>
            <a:ext cx="3738000" cy="17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 dirty="0"/>
              <a:t>Моделирование </a:t>
            </a:r>
            <a:r>
              <a:rPr lang="ru" sz="1100" dirty="0"/>
              <a:t>дополнительных расходов является попыткой оценить возможные управленческие решения со стороны государства. </a:t>
            </a:r>
            <a:endParaRPr sz="11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b="1" dirty="0"/>
              <a:t>Ограничения: </a:t>
            </a:r>
            <a:endParaRPr sz="1100" b="1"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ru" sz="1100" dirty="0"/>
              <a:t>Использование жесткого сценария </a:t>
            </a:r>
            <a:endParaRPr sz="1100"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ru" sz="1100" dirty="0"/>
              <a:t>Манипулирование предпосылками </a:t>
            </a:r>
            <a:endParaRPr sz="1100" dirty="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ru" sz="1100" dirty="0"/>
              <a:t>Требуется глубокий анализ кластеров регионов по общим признакам</a:t>
            </a:r>
            <a:endParaRPr sz="1100" dirty="0"/>
          </a:p>
        </p:txBody>
      </p:sp>
      <p:sp>
        <p:nvSpPr>
          <p:cNvPr id="296" name="Google Shape;296;p29"/>
          <p:cNvSpPr txBox="1"/>
          <p:nvPr/>
        </p:nvSpPr>
        <p:spPr>
          <a:xfrm>
            <a:off x="4917275" y="2315630"/>
            <a:ext cx="2913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>
                <a:solidFill>
                  <a:srgbClr val="073763"/>
                </a:solidFill>
              </a:rPr>
              <a:t>Моделирование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538826"/>
            <a:ext cx="4582187" cy="4111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l="24264" r="23597"/>
          <a:stretch/>
        </p:blipFill>
        <p:spPr>
          <a:xfrm>
            <a:off x="3405755" y="1461542"/>
            <a:ext cx="2332500" cy="2220300"/>
          </a:xfrm>
          <a:prstGeom prst="ellipse">
            <a:avLst/>
          </a:prstGeom>
          <a:noFill/>
          <a:ln>
            <a:noFill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pic>
        <p:nvPicPr>
          <p:cNvPr id="303" name="Google Shape;303;p30" title="IMG_20251225_133714_175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60241">
            <a:off x="3815475" y="1117293"/>
            <a:ext cx="1715893" cy="1664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 title="176665967102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99425" y="2166325"/>
            <a:ext cx="1264850" cy="151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1032</Words>
  <Application>Microsoft Macintosh PowerPoint</Application>
  <PresentationFormat>Экран (16:9)</PresentationFormat>
  <Paragraphs>197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Simple Light</vt:lpstr>
      <vt:lpstr>Office Theme</vt:lpstr>
      <vt:lpstr>Разработка мер по уменьшению разрыва регионов по показателю Уровень бюджетной обеспеченности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Юлия Горошко</dc:creator>
  <cp:lastModifiedBy>matzur.lina@yandex.ru</cp:lastModifiedBy>
  <cp:revision>2</cp:revision>
  <dcterms:modified xsi:type="dcterms:W3CDTF">2026-03-27T11:54:44Z</dcterms:modified>
</cp:coreProperties>
</file>